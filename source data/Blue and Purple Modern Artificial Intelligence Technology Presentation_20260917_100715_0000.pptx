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Italics" charset="1" panose="00000500000000000000"/>
      <p:regular r:id="rId16"/>
    </p:embeddedFont>
    <p:embeddedFont>
      <p:font typeface="Poppins Bold" charset="1" panose="00000800000000000000"/>
      <p:regular r:id="rId17"/>
    </p:embeddedFont>
    <p:embeddedFont>
      <p:font typeface="Poppins" charset="1" panose="00000500000000000000"/>
      <p:regular r:id="rId18"/>
    </p:embeddedFont>
    <p:embeddedFont>
      <p:font typeface="Montserrat"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jpeg" Type="http://schemas.openxmlformats.org/officeDocument/2006/relationships/image"/><Relationship Id="rId7" Target="../media/image13.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jpe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8.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jpeg" Type="http://schemas.openxmlformats.org/officeDocument/2006/relationships/image"/><Relationship Id="rId11" Target="../media/image36.jpeg" Type="http://schemas.openxmlformats.org/officeDocument/2006/relationships/image"/><Relationship Id="rId12" Target="../media/image37.jpe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jpeg" Type="http://schemas.openxmlformats.org/officeDocument/2006/relationships/image"/><Relationship Id="rId7" Target="../media/image32.jpeg" Type="http://schemas.openxmlformats.org/officeDocument/2006/relationships/image"/><Relationship Id="rId8" Target="../media/image33.jpeg" Type="http://schemas.openxmlformats.org/officeDocument/2006/relationships/image"/><Relationship Id="rId9" Target="../media/image3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6.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151037"/>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657561" y="0"/>
            <a:ext cx="16041779" cy="10687835"/>
          </a:xfrm>
          <a:custGeom>
            <a:avLst/>
            <a:gdLst/>
            <a:ahLst/>
            <a:cxnLst/>
            <a:rect r="r" b="b" t="t" l="l"/>
            <a:pathLst>
              <a:path h="10687835" w="16041779">
                <a:moveTo>
                  <a:pt x="0" y="0"/>
                </a:moveTo>
                <a:lnTo>
                  <a:pt x="16041779" y="0"/>
                </a:lnTo>
                <a:lnTo>
                  <a:pt x="16041779" y="10687835"/>
                </a:lnTo>
                <a:lnTo>
                  <a:pt x="0" y="10687835"/>
                </a:lnTo>
                <a:lnTo>
                  <a:pt x="0" y="0"/>
                </a:lnTo>
                <a:close/>
              </a:path>
            </a:pathLst>
          </a:custGeom>
          <a:blipFill>
            <a:blip r:embed="rId2"/>
            <a:stretch>
              <a:fillRect l="0" t="0" r="0" b="0"/>
            </a:stretch>
          </a:blipFill>
        </p:spPr>
      </p:sp>
      <p:grpSp>
        <p:nvGrpSpPr>
          <p:cNvPr name="Group 6" id="6"/>
          <p:cNvGrpSpPr/>
          <p:nvPr/>
        </p:nvGrpSpPr>
        <p:grpSpPr>
          <a:xfrm rot="0">
            <a:off x="6102098" y="0"/>
            <a:ext cx="7717357" cy="10287000"/>
            <a:chOff x="0" y="0"/>
            <a:chExt cx="3943771" cy="5256926"/>
          </a:xfrm>
        </p:grpSpPr>
        <p:sp>
          <p:nvSpPr>
            <p:cNvPr name="Freeform 7" id="7"/>
            <p:cNvSpPr/>
            <p:nvPr/>
          </p:nvSpPr>
          <p:spPr>
            <a:xfrm flipH="false" flipV="false" rot="0">
              <a:off x="0" y="0"/>
              <a:ext cx="3943771" cy="5256926"/>
            </a:xfrm>
            <a:custGeom>
              <a:avLst/>
              <a:gdLst/>
              <a:ahLst/>
              <a:cxnLst/>
              <a:rect r="r" b="b" t="t" l="l"/>
              <a:pathLst>
                <a:path h="5256926" w="3943771">
                  <a:moveTo>
                    <a:pt x="0" y="0"/>
                  </a:moveTo>
                  <a:lnTo>
                    <a:pt x="3943771" y="0"/>
                  </a:lnTo>
                  <a:lnTo>
                    <a:pt x="3943771" y="5256926"/>
                  </a:lnTo>
                  <a:lnTo>
                    <a:pt x="0" y="5256926"/>
                  </a:lnTo>
                  <a:close/>
                </a:path>
              </a:pathLst>
            </a:custGeom>
            <a:gradFill rotWithShape="true">
              <a:gsLst>
                <a:gs pos="0">
                  <a:srgbClr val="5347D9">
                    <a:alpha val="0"/>
                  </a:srgbClr>
                </a:gs>
                <a:gs pos="100000">
                  <a:srgbClr val="151037">
                    <a:alpha val="100000"/>
                  </a:srgbClr>
                </a:gs>
              </a:gsLst>
              <a:lin ang="0"/>
            </a:gradFill>
          </p:spPr>
        </p:sp>
        <p:sp>
          <p:nvSpPr>
            <p:cNvPr name="TextBox 8" id="8"/>
            <p:cNvSpPr txBox="true"/>
            <p:nvPr/>
          </p:nvSpPr>
          <p:spPr>
            <a:xfrm>
              <a:off x="0" y="-66675"/>
              <a:ext cx="3943771" cy="5323601"/>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true" rot="-2524046">
            <a:off x="10621834" y="2815027"/>
            <a:ext cx="15332333" cy="6612069"/>
          </a:xfrm>
          <a:custGeom>
            <a:avLst/>
            <a:gdLst/>
            <a:ahLst/>
            <a:cxnLst/>
            <a:rect r="r" b="b" t="t" l="l"/>
            <a:pathLst>
              <a:path h="6612069" w="15332333">
                <a:moveTo>
                  <a:pt x="0" y="6612068"/>
                </a:moveTo>
                <a:lnTo>
                  <a:pt x="15332332" y="6612068"/>
                </a:lnTo>
                <a:lnTo>
                  <a:pt x="15332332" y="0"/>
                </a:lnTo>
                <a:lnTo>
                  <a:pt x="0" y="0"/>
                </a:lnTo>
                <a:lnTo>
                  <a:pt x="0" y="6612068"/>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0" id="10"/>
          <p:cNvGrpSpPr/>
          <p:nvPr/>
        </p:nvGrpSpPr>
        <p:grpSpPr>
          <a:xfrm rot="-10800000">
            <a:off x="8374147" y="3263480"/>
            <a:ext cx="8454787" cy="3760040"/>
            <a:chOff x="0" y="0"/>
            <a:chExt cx="4320617" cy="1921479"/>
          </a:xfrm>
        </p:grpSpPr>
        <p:sp>
          <p:nvSpPr>
            <p:cNvPr name="Freeform 11" id="11"/>
            <p:cNvSpPr/>
            <p:nvPr/>
          </p:nvSpPr>
          <p:spPr>
            <a:xfrm flipH="false" flipV="false" rot="0">
              <a:off x="0" y="0"/>
              <a:ext cx="4320617" cy="1921479"/>
            </a:xfrm>
            <a:custGeom>
              <a:avLst/>
              <a:gdLst/>
              <a:ahLst/>
              <a:cxnLst/>
              <a:rect r="r" b="b" t="t" l="l"/>
              <a:pathLst>
                <a:path h="1921479" w="4320617">
                  <a:moveTo>
                    <a:pt x="0" y="0"/>
                  </a:moveTo>
                  <a:lnTo>
                    <a:pt x="4320617" y="0"/>
                  </a:lnTo>
                  <a:lnTo>
                    <a:pt x="4320617" y="1921479"/>
                  </a:lnTo>
                  <a:lnTo>
                    <a:pt x="0" y="1921479"/>
                  </a:lnTo>
                  <a:close/>
                </a:path>
              </a:pathLst>
            </a:custGeom>
            <a:gradFill rotWithShape="true">
              <a:gsLst>
                <a:gs pos="0">
                  <a:srgbClr val="5347D9">
                    <a:alpha val="0"/>
                  </a:srgbClr>
                </a:gs>
                <a:gs pos="100000">
                  <a:srgbClr val="5347D9">
                    <a:alpha val="74500"/>
                  </a:srgbClr>
                </a:gs>
              </a:gsLst>
              <a:lin ang="2700000"/>
            </a:gradFill>
            <a:ln w="47625" cap="sq">
              <a:gradFill>
                <a:gsLst>
                  <a:gs pos="0">
                    <a:srgbClr val="5347D9">
                      <a:alpha val="0"/>
                    </a:srgbClr>
                  </a:gs>
                  <a:gs pos="100000">
                    <a:srgbClr val="6153FF">
                      <a:alpha val="100000"/>
                    </a:srgbClr>
                  </a:gs>
                </a:gsLst>
                <a:path path="circle">
                  <a:fillToRect l="0" r="100000" t="0" b="100000"/>
                </a:path>
                <a:tileRect r="0" l="-100000" b="0" t="-100000"/>
              </a:gradFill>
              <a:prstDash val="solid"/>
              <a:miter/>
            </a:ln>
          </p:spPr>
        </p:sp>
        <p:sp>
          <p:nvSpPr>
            <p:cNvPr name="TextBox 12" id="12"/>
            <p:cNvSpPr txBox="true"/>
            <p:nvPr/>
          </p:nvSpPr>
          <p:spPr>
            <a:xfrm>
              <a:off x="0" y="-66675"/>
              <a:ext cx="4320617" cy="1988154"/>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3" id="13"/>
          <p:cNvSpPr/>
          <p:nvPr/>
        </p:nvSpPr>
        <p:spPr>
          <a:xfrm flipH="true" flipV="false" rot="0">
            <a:off x="12658303" y="879434"/>
            <a:ext cx="860735" cy="774662"/>
          </a:xfrm>
          <a:custGeom>
            <a:avLst/>
            <a:gdLst/>
            <a:ahLst/>
            <a:cxnLst/>
            <a:rect r="r" b="b" t="t" l="l"/>
            <a:pathLst>
              <a:path h="774662" w="860735">
                <a:moveTo>
                  <a:pt x="860735" y="0"/>
                </a:moveTo>
                <a:lnTo>
                  <a:pt x="0" y="0"/>
                </a:lnTo>
                <a:lnTo>
                  <a:pt x="0" y="774662"/>
                </a:lnTo>
                <a:lnTo>
                  <a:pt x="860735" y="774662"/>
                </a:lnTo>
                <a:lnTo>
                  <a:pt x="86073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8070057" y="2819600"/>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7"/>
            <a:stretch>
              <a:fillRect l="0" t="0" r="0" b="0"/>
            </a:stretch>
          </a:blipFill>
          <a:ln cap="sq">
            <a:noFill/>
            <a:prstDash val="solid"/>
            <a:miter/>
          </a:ln>
        </p:spPr>
      </p:sp>
      <p:sp>
        <p:nvSpPr>
          <p:cNvPr name="Freeform 15" id="15"/>
          <p:cNvSpPr/>
          <p:nvPr/>
        </p:nvSpPr>
        <p:spPr>
          <a:xfrm flipH="false" flipV="false" rot="0">
            <a:off x="10790158" y="6579640"/>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8"/>
            <a:stretch>
              <a:fillRect l="0" t="0" r="0" b="0"/>
            </a:stretch>
          </a:blipFill>
        </p:spPr>
      </p:sp>
      <p:sp>
        <p:nvSpPr>
          <p:cNvPr name="Freeform 16" id="16"/>
          <p:cNvSpPr/>
          <p:nvPr/>
        </p:nvSpPr>
        <p:spPr>
          <a:xfrm flipH="false" flipV="false" rot="0">
            <a:off x="2235026" y="2236785"/>
            <a:ext cx="6256605" cy="6256605"/>
          </a:xfrm>
          <a:custGeom>
            <a:avLst/>
            <a:gdLst/>
            <a:ahLst/>
            <a:cxnLst/>
            <a:rect r="r" b="b" t="t" l="l"/>
            <a:pathLst>
              <a:path h="6256605" w="6256605">
                <a:moveTo>
                  <a:pt x="0" y="0"/>
                </a:moveTo>
                <a:lnTo>
                  <a:pt x="6256605" y="0"/>
                </a:lnTo>
                <a:lnTo>
                  <a:pt x="6256605" y="6256605"/>
                </a:lnTo>
                <a:lnTo>
                  <a:pt x="0" y="6256605"/>
                </a:lnTo>
                <a:lnTo>
                  <a:pt x="0" y="0"/>
                </a:lnTo>
                <a:close/>
              </a:path>
            </a:pathLst>
          </a:custGeom>
          <a:blipFill>
            <a:blip r:embed="rId9"/>
            <a:stretch>
              <a:fillRect l="0" t="0" r="0" b="0"/>
            </a:stretch>
          </a:blipFill>
        </p:spPr>
      </p:sp>
      <p:sp>
        <p:nvSpPr>
          <p:cNvPr name="Freeform 17" id="17"/>
          <p:cNvSpPr/>
          <p:nvPr/>
        </p:nvSpPr>
        <p:spPr>
          <a:xfrm flipH="false" flipV="false" rot="0">
            <a:off x="15729645" y="770544"/>
            <a:ext cx="1099289" cy="975120"/>
          </a:xfrm>
          <a:custGeom>
            <a:avLst/>
            <a:gdLst/>
            <a:ahLst/>
            <a:cxnLst/>
            <a:rect r="r" b="b" t="t" l="l"/>
            <a:pathLst>
              <a:path h="975120" w="1099289">
                <a:moveTo>
                  <a:pt x="0" y="0"/>
                </a:moveTo>
                <a:lnTo>
                  <a:pt x="1099289" y="0"/>
                </a:lnTo>
                <a:lnTo>
                  <a:pt x="1099289" y="975121"/>
                </a:lnTo>
                <a:lnTo>
                  <a:pt x="0" y="975121"/>
                </a:lnTo>
                <a:lnTo>
                  <a:pt x="0" y="0"/>
                </a:lnTo>
                <a:close/>
              </a:path>
            </a:pathLst>
          </a:custGeom>
          <a:blipFill>
            <a:blip r:embed="rId10"/>
            <a:stretch>
              <a:fillRect l="-628" t="0" r="-628" b="0"/>
            </a:stretch>
          </a:blipFill>
        </p:spPr>
      </p:sp>
      <p:sp>
        <p:nvSpPr>
          <p:cNvPr name="TextBox 18" id="18"/>
          <p:cNvSpPr txBox="true"/>
          <p:nvPr/>
        </p:nvSpPr>
        <p:spPr>
          <a:xfrm rot="0">
            <a:off x="9582153" y="5137561"/>
            <a:ext cx="6038776" cy="388377"/>
          </a:xfrm>
          <a:prstGeom prst="rect">
            <a:avLst/>
          </a:prstGeom>
        </p:spPr>
        <p:txBody>
          <a:bodyPr anchor="t" rtlCol="false" tIns="0" lIns="0" bIns="0" rIns="0">
            <a:spAutoFit/>
          </a:bodyPr>
          <a:lstStyle/>
          <a:p>
            <a:pPr algn="ctr">
              <a:lnSpc>
                <a:spcPts val="3023"/>
              </a:lnSpc>
            </a:pPr>
            <a:r>
              <a:rPr lang="en-US" sz="2159" i="true">
                <a:solidFill>
                  <a:srgbClr val="FFFFFF"/>
                </a:solidFill>
                <a:latin typeface="Poppins Italics"/>
                <a:ea typeface="Poppins Italics"/>
                <a:cs typeface="Poppins Italics"/>
                <a:sym typeface="Poppins Italics"/>
              </a:rPr>
              <a:t>HIMPUNAN MAHASISWA TEKNIK INFORMATIKA</a:t>
            </a:r>
          </a:p>
        </p:txBody>
      </p:sp>
      <p:sp>
        <p:nvSpPr>
          <p:cNvPr name="TextBox 19" id="19"/>
          <p:cNvSpPr txBox="true"/>
          <p:nvPr/>
        </p:nvSpPr>
        <p:spPr>
          <a:xfrm rot="0">
            <a:off x="8706652" y="3802610"/>
            <a:ext cx="7789777" cy="1463412"/>
          </a:xfrm>
          <a:prstGeom prst="rect">
            <a:avLst/>
          </a:prstGeom>
        </p:spPr>
        <p:txBody>
          <a:bodyPr anchor="t" rtlCol="false" tIns="0" lIns="0" bIns="0" rIns="0">
            <a:spAutoFit/>
          </a:bodyPr>
          <a:lstStyle/>
          <a:p>
            <a:pPr algn="l">
              <a:lnSpc>
                <a:spcPts val="10416"/>
              </a:lnSpc>
            </a:pPr>
            <a:r>
              <a:rPr lang="en-US" sz="10313" b="true">
                <a:solidFill>
                  <a:srgbClr val="FFFFFF"/>
                </a:solidFill>
                <a:latin typeface="Poppins Bold"/>
                <a:ea typeface="Poppins Bold"/>
                <a:cs typeface="Poppins Bold"/>
                <a:sym typeface="Poppins Bold"/>
              </a:rPr>
              <a:t>HIMTI-UNA</a:t>
            </a:r>
          </a:p>
        </p:txBody>
      </p:sp>
      <p:sp>
        <p:nvSpPr>
          <p:cNvPr name="TextBox 20" id="20"/>
          <p:cNvSpPr txBox="true"/>
          <p:nvPr/>
        </p:nvSpPr>
        <p:spPr>
          <a:xfrm rot="0">
            <a:off x="13741860" y="940188"/>
            <a:ext cx="2020204" cy="550108"/>
          </a:xfrm>
          <a:prstGeom prst="rect">
            <a:avLst/>
          </a:prstGeom>
        </p:spPr>
        <p:txBody>
          <a:bodyPr anchor="t" rtlCol="false" tIns="0" lIns="0" bIns="0" rIns="0">
            <a:spAutoFit/>
          </a:bodyPr>
          <a:lstStyle/>
          <a:p>
            <a:pPr algn="l">
              <a:lnSpc>
                <a:spcPts val="4291"/>
              </a:lnSpc>
            </a:pPr>
            <a:r>
              <a:rPr lang="en-US" sz="3065">
                <a:solidFill>
                  <a:srgbClr val="FFFFFF"/>
                </a:solidFill>
                <a:latin typeface="Poppins"/>
                <a:ea typeface="Poppins"/>
                <a:cs typeface="Poppins"/>
                <a:sym typeface="Poppins"/>
              </a:rPr>
              <a:t>HIMTI-UNA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207116">
            <a:off x="4672584" y="5426387"/>
            <a:ext cx="15332333" cy="6612069"/>
          </a:xfrm>
          <a:custGeom>
            <a:avLst/>
            <a:gdLst/>
            <a:ahLst/>
            <a:cxnLst/>
            <a:rect r="r" b="b" t="t" l="l"/>
            <a:pathLst>
              <a:path h="6612069" w="15332333">
                <a:moveTo>
                  <a:pt x="0" y="6612068"/>
                </a:moveTo>
                <a:lnTo>
                  <a:pt x="15332333" y="6612068"/>
                </a:lnTo>
                <a:lnTo>
                  <a:pt x="15332333" y="0"/>
                </a:lnTo>
                <a:lnTo>
                  <a:pt x="0" y="0"/>
                </a:lnTo>
                <a:lnTo>
                  <a:pt x="0" y="6612068"/>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10800000">
            <a:off x="0" y="-120224"/>
            <a:ext cx="18288000" cy="6134891"/>
            <a:chOff x="0" y="0"/>
            <a:chExt cx="9345646" cy="3135090"/>
          </a:xfrm>
        </p:grpSpPr>
        <p:sp>
          <p:nvSpPr>
            <p:cNvPr name="Freeform 4" id="4"/>
            <p:cNvSpPr/>
            <p:nvPr/>
          </p:nvSpPr>
          <p:spPr>
            <a:xfrm flipH="false" flipV="false" rot="0">
              <a:off x="0" y="0"/>
              <a:ext cx="9345647" cy="3135090"/>
            </a:xfrm>
            <a:custGeom>
              <a:avLst/>
              <a:gdLst/>
              <a:ahLst/>
              <a:cxnLst/>
              <a:rect r="r" b="b" t="t" l="l"/>
              <a:pathLst>
                <a:path h="3135090" w="9345647">
                  <a:moveTo>
                    <a:pt x="0" y="0"/>
                  </a:moveTo>
                  <a:lnTo>
                    <a:pt x="9345647" y="0"/>
                  </a:lnTo>
                  <a:lnTo>
                    <a:pt x="9345647" y="3135090"/>
                  </a:lnTo>
                  <a:lnTo>
                    <a:pt x="0" y="3135090"/>
                  </a:lnTo>
                  <a:close/>
                </a:path>
              </a:pathLst>
            </a:custGeom>
            <a:gradFill rotWithShape="true">
              <a:gsLst>
                <a:gs pos="0">
                  <a:srgbClr val="5347D9">
                    <a:alpha val="0"/>
                  </a:srgbClr>
                </a:gs>
                <a:gs pos="100000">
                  <a:srgbClr val="5347D9">
                    <a:alpha val="59500"/>
                  </a:srgbClr>
                </a:gs>
              </a:gsLst>
              <a:lin ang="5400000"/>
            </a:gradFill>
          </p:spPr>
        </p:sp>
        <p:sp>
          <p:nvSpPr>
            <p:cNvPr name="TextBox 5" id="5"/>
            <p:cNvSpPr txBox="true"/>
            <p:nvPr/>
          </p:nvSpPr>
          <p:spPr>
            <a:xfrm>
              <a:off x="0" y="-66675"/>
              <a:ext cx="9345646" cy="3201765"/>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true" flipV="true" rot="0">
            <a:off x="16091252" y="1028700"/>
            <a:ext cx="1168048" cy="1168048"/>
          </a:xfrm>
          <a:custGeom>
            <a:avLst/>
            <a:gdLst/>
            <a:ahLst/>
            <a:cxnLst/>
            <a:rect r="r" b="b" t="t" l="l"/>
            <a:pathLst>
              <a:path h="1168048" w="1168048">
                <a:moveTo>
                  <a:pt x="1168048" y="1168048"/>
                </a:moveTo>
                <a:lnTo>
                  <a:pt x="0" y="1168048"/>
                </a:lnTo>
                <a:lnTo>
                  <a:pt x="0" y="0"/>
                </a:lnTo>
                <a:lnTo>
                  <a:pt x="1168048" y="0"/>
                </a:lnTo>
                <a:lnTo>
                  <a:pt x="1168048" y="1168048"/>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376334" y="1350321"/>
            <a:ext cx="5260717" cy="7586358"/>
            <a:chOff x="0" y="0"/>
            <a:chExt cx="815023" cy="1175325"/>
          </a:xfrm>
        </p:grpSpPr>
        <p:sp>
          <p:nvSpPr>
            <p:cNvPr name="Freeform 8" id="8"/>
            <p:cNvSpPr/>
            <p:nvPr/>
          </p:nvSpPr>
          <p:spPr>
            <a:xfrm flipH="false" flipV="false" rot="0">
              <a:off x="0" y="0"/>
              <a:ext cx="815023" cy="1175325"/>
            </a:xfrm>
            <a:custGeom>
              <a:avLst/>
              <a:gdLst/>
              <a:ahLst/>
              <a:cxnLst/>
              <a:rect r="r" b="b" t="t" l="l"/>
              <a:pathLst>
                <a:path h="1175325" w="815023">
                  <a:moveTo>
                    <a:pt x="60338" y="0"/>
                  </a:moveTo>
                  <a:lnTo>
                    <a:pt x="754685" y="0"/>
                  </a:lnTo>
                  <a:cubicBezTo>
                    <a:pt x="770688" y="0"/>
                    <a:pt x="786035" y="6357"/>
                    <a:pt x="797350" y="17672"/>
                  </a:cubicBezTo>
                  <a:cubicBezTo>
                    <a:pt x="808666" y="28988"/>
                    <a:pt x="815023" y="44335"/>
                    <a:pt x="815023" y="60338"/>
                  </a:cubicBezTo>
                  <a:lnTo>
                    <a:pt x="815023" y="1114988"/>
                  </a:lnTo>
                  <a:cubicBezTo>
                    <a:pt x="815023" y="1148311"/>
                    <a:pt x="788009" y="1175325"/>
                    <a:pt x="754685" y="1175325"/>
                  </a:cubicBezTo>
                  <a:lnTo>
                    <a:pt x="60338" y="1175325"/>
                  </a:lnTo>
                  <a:cubicBezTo>
                    <a:pt x="44335" y="1175325"/>
                    <a:pt x="28988" y="1168968"/>
                    <a:pt x="17672" y="1157653"/>
                  </a:cubicBezTo>
                  <a:cubicBezTo>
                    <a:pt x="6357" y="1146337"/>
                    <a:pt x="0" y="1130990"/>
                    <a:pt x="0" y="1114988"/>
                  </a:cubicBezTo>
                  <a:lnTo>
                    <a:pt x="0" y="60338"/>
                  </a:lnTo>
                  <a:cubicBezTo>
                    <a:pt x="0" y="44335"/>
                    <a:pt x="6357" y="28988"/>
                    <a:pt x="17672" y="17672"/>
                  </a:cubicBezTo>
                  <a:cubicBezTo>
                    <a:pt x="28988" y="6357"/>
                    <a:pt x="44335" y="0"/>
                    <a:pt x="60338" y="0"/>
                  </a:cubicBezTo>
                  <a:close/>
                </a:path>
              </a:pathLst>
            </a:custGeom>
            <a:blipFill>
              <a:blip r:embed="rId6"/>
              <a:stretch>
                <a:fillRect l="-23137" t="0" r="-23137" b="-1688"/>
              </a:stretch>
            </a:blipFill>
          </p:spPr>
        </p:sp>
      </p:grpSp>
      <p:sp>
        <p:nvSpPr>
          <p:cNvPr name="Freeform 9" id="9"/>
          <p:cNvSpPr/>
          <p:nvPr/>
        </p:nvSpPr>
        <p:spPr>
          <a:xfrm flipH="false" flipV="false" rot="0">
            <a:off x="11317693" y="1838560"/>
            <a:ext cx="3930501" cy="568285"/>
          </a:xfrm>
          <a:custGeom>
            <a:avLst/>
            <a:gdLst/>
            <a:ahLst/>
            <a:cxnLst/>
            <a:rect r="r" b="b" t="t" l="l"/>
            <a:pathLst>
              <a:path h="568285" w="3930501">
                <a:moveTo>
                  <a:pt x="0" y="0"/>
                </a:moveTo>
                <a:lnTo>
                  <a:pt x="3930501" y="0"/>
                </a:lnTo>
                <a:lnTo>
                  <a:pt x="3930501" y="568285"/>
                </a:lnTo>
                <a:lnTo>
                  <a:pt x="0" y="568285"/>
                </a:lnTo>
                <a:lnTo>
                  <a:pt x="0" y="0"/>
                </a:lnTo>
                <a:close/>
              </a:path>
            </a:pathLst>
          </a:custGeom>
          <a:blipFill>
            <a:blip r:embed="rId7"/>
            <a:stretch>
              <a:fillRect l="0" t="0" r="0" b="0"/>
            </a:stretch>
          </a:blipFill>
        </p:spPr>
      </p:sp>
      <p:sp>
        <p:nvSpPr>
          <p:cNvPr name="Freeform 10" id="10"/>
          <p:cNvSpPr/>
          <p:nvPr/>
        </p:nvSpPr>
        <p:spPr>
          <a:xfrm flipH="false" flipV="false" rot="0">
            <a:off x="936629" y="950800"/>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8"/>
            <a:stretch>
              <a:fillRect l="0" t="0" r="0" b="0"/>
            </a:stretch>
          </a:blipFill>
          <a:ln cap="sq">
            <a:noFill/>
            <a:prstDash val="solid"/>
            <a:miter/>
          </a:ln>
        </p:spPr>
      </p:sp>
      <p:sp>
        <p:nvSpPr>
          <p:cNvPr name="Freeform 11" id="11"/>
          <p:cNvSpPr/>
          <p:nvPr/>
        </p:nvSpPr>
        <p:spPr>
          <a:xfrm flipH="false" flipV="false" rot="0">
            <a:off x="1149255" y="8442103"/>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9"/>
            <a:stretch>
              <a:fillRect l="0" t="0" r="0" b="0"/>
            </a:stretch>
          </a:blipFill>
        </p:spPr>
      </p:sp>
      <p:sp>
        <p:nvSpPr>
          <p:cNvPr name="TextBox 12" id="12"/>
          <p:cNvSpPr txBox="true"/>
          <p:nvPr/>
        </p:nvSpPr>
        <p:spPr>
          <a:xfrm rot="0">
            <a:off x="7525923" y="3402852"/>
            <a:ext cx="8344670" cy="4518895"/>
          </a:xfrm>
          <a:prstGeom prst="rect">
            <a:avLst/>
          </a:prstGeom>
        </p:spPr>
        <p:txBody>
          <a:bodyPr anchor="t" rtlCol="false" tIns="0" lIns="0" bIns="0" rIns="0">
            <a:spAutoFit/>
          </a:bodyPr>
          <a:lstStyle/>
          <a:p>
            <a:pPr algn="l">
              <a:lnSpc>
                <a:spcPts val="3977"/>
              </a:lnSpc>
            </a:pPr>
            <a:r>
              <a:rPr lang="en-US" sz="2840">
                <a:solidFill>
                  <a:srgbClr val="FFFFFF"/>
                </a:solidFill>
                <a:latin typeface="Montserrat"/>
                <a:ea typeface="Montserrat"/>
                <a:cs typeface="Montserrat"/>
                <a:sym typeface="Montserrat"/>
              </a:rPr>
              <a:t>Himti adalah sebuah organisasi atau sebuah wadah penampung aspirasi, prestasi dan skill mahasiswa/I Teknik Informatika Universitas Asahan untuk terus berkembang dan maju. </a:t>
            </a:r>
          </a:p>
          <a:p>
            <a:pPr algn="l">
              <a:lnSpc>
                <a:spcPts val="3977"/>
              </a:lnSpc>
            </a:pPr>
          </a:p>
          <a:p>
            <a:pPr algn="l">
              <a:lnSpc>
                <a:spcPts val="3977"/>
              </a:lnSpc>
            </a:pPr>
            <a:r>
              <a:rPr lang="en-US" sz="2840">
                <a:solidFill>
                  <a:srgbClr val="FFFFFF"/>
                </a:solidFill>
                <a:latin typeface="Montserrat"/>
                <a:ea typeface="Montserrat"/>
                <a:cs typeface="Montserrat"/>
                <a:sym typeface="Montserrat"/>
              </a:rPr>
              <a:t>Himti  berada di bawah naungan fakultas Teknik dan PERMIKOMNAS (Perhimpunan Mahasiswa Informatika dan Komputer Nasional).</a:t>
            </a:r>
          </a:p>
        </p:txBody>
      </p:sp>
      <p:sp>
        <p:nvSpPr>
          <p:cNvPr name="TextBox 13" id="13"/>
          <p:cNvSpPr txBox="true"/>
          <p:nvPr/>
        </p:nvSpPr>
        <p:spPr>
          <a:xfrm rot="0">
            <a:off x="7525923" y="1187076"/>
            <a:ext cx="8565329" cy="961771"/>
          </a:xfrm>
          <a:prstGeom prst="rect">
            <a:avLst/>
          </a:prstGeom>
        </p:spPr>
        <p:txBody>
          <a:bodyPr anchor="t" rtlCol="false" tIns="0" lIns="0" bIns="0" rIns="0">
            <a:spAutoFit/>
          </a:bodyPr>
          <a:lstStyle/>
          <a:p>
            <a:pPr algn="l">
              <a:lnSpc>
                <a:spcPts val="6767"/>
              </a:lnSpc>
            </a:pPr>
            <a:r>
              <a:rPr lang="en-US" sz="6700" b="true">
                <a:solidFill>
                  <a:srgbClr val="FFFFFF"/>
                </a:solidFill>
                <a:latin typeface="Poppins Bold"/>
                <a:ea typeface="Poppins Bold"/>
                <a:cs typeface="Poppins Bold"/>
                <a:sym typeface="Poppins Bold"/>
              </a:rPr>
              <a:t>PENGENALAN HIMTI</a:t>
            </a:r>
          </a:p>
        </p:txBody>
      </p:sp>
      <p:sp>
        <p:nvSpPr>
          <p:cNvPr name="TextBox 14" id="14"/>
          <p:cNvSpPr txBox="true"/>
          <p:nvPr/>
        </p:nvSpPr>
        <p:spPr>
          <a:xfrm rot="0">
            <a:off x="7673762" y="2674661"/>
            <a:ext cx="4664988"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Poppins Bold"/>
                <a:ea typeface="Poppins Bold"/>
                <a:cs typeface="Poppins Bold"/>
                <a:sym typeface="Poppins Bold"/>
              </a:rPr>
              <a:t>Apa sih organisasi HIMTI itu?</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false" rot="2013877">
            <a:off x="-4920563" y="6221142"/>
            <a:ext cx="12593792" cy="5431073"/>
          </a:xfrm>
          <a:custGeom>
            <a:avLst/>
            <a:gdLst/>
            <a:ahLst/>
            <a:cxnLst/>
            <a:rect r="r" b="b" t="t" l="l"/>
            <a:pathLst>
              <a:path h="5431073" w="12593792">
                <a:moveTo>
                  <a:pt x="0" y="0"/>
                </a:moveTo>
                <a:lnTo>
                  <a:pt x="12593793" y="0"/>
                </a:lnTo>
                <a:lnTo>
                  <a:pt x="12593793" y="5431073"/>
                </a:lnTo>
                <a:lnTo>
                  <a:pt x="0" y="54310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3593859" y="2069355"/>
            <a:ext cx="10563809" cy="2234802"/>
            <a:chOff x="0" y="0"/>
            <a:chExt cx="5398383" cy="1142042"/>
          </a:xfrm>
        </p:grpSpPr>
        <p:sp>
          <p:nvSpPr>
            <p:cNvPr name="Freeform 4" id="4"/>
            <p:cNvSpPr/>
            <p:nvPr/>
          </p:nvSpPr>
          <p:spPr>
            <a:xfrm flipH="false" flipV="false" rot="0">
              <a:off x="0" y="0"/>
              <a:ext cx="5398383" cy="1142042"/>
            </a:xfrm>
            <a:custGeom>
              <a:avLst/>
              <a:gdLst/>
              <a:ahLst/>
              <a:cxnLst/>
              <a:rect r="r" b="b" t="t" l="l"/>
              <a:pathLst>
                <a:path h="1142042" w="5398383">
                  <a:moveTo>
                    <a:pt x="34445" y="0"/>
                  </a:moveTo>
                  <a:lnTo>
                    <a:pt x="5363938" y="0"/>
                  </a:lnTo>
                  <a:cubicBezTo>
                    <a:pt x="5382961" y="0"/>
                    <a:pt x="5398383" y="15422"/>
                    <a:pt x="5398383" y="34445"/>
                  </a:cubicBezTo>
                  <a:lnTo>
                    <a:pt x="5398383" y="1107597"/>
                  </a:lnTo>
                  <a:cubicBezTo>
                    <a:pt x="5398383" y="1126621"/>
                    <a:pt x="5382961" y="1142042"/>
                    <a:pt x="5363938" y="1142042"/>
                  </a:cubicBezTo>
                  <a:lnTo>
                    <a:pt x="34445" y="1142042"/>
                  </a:lnTo>
                  <a:cubicBezTo>
                    <a:pt x="15422" y="1142042"/>
                    <a:pt x="0" y="1126621"/>
                    <a:pt x="0" y="1107597"/>
                  </a:cubicBezTo>
                  <a:lnTo>
                    <a:pt x="0" y="34445"/>
                  </a:lnTo>
                  <a:cubicBezTo>
                    <a:pt x="0" y="15422"/>
                    <a:pt x="15422" y="0"/>
                    <a:pt x="34445" y="0"/>
                  </a:cubicBezTo>
                  <a:close/>
                </a:path>
              </a:pathLst>
            </a:custGeom>
            <a:gradFill rotWithShape="true">
              <a:gsLst>
                <a:gs pos="0">
                  <a:srgbClr val="5347D9">
                    <a:alpha val="75000"/>
                  </a:srgbClr>
                </a:gs>
                <a:gs pos="100000">
                  <a:srgbClr val="5347D9">
                    <a:alpha val="0"/>
                  </a:srgbClr>
                </a:gs>
              </a:gsLst>
              <a:lin ang="5400000"/>
            </a:gradFill>
            <a:ln w="38100" cap="rnd">
              <a:gradFill>
                <a:gsLst>
                  <a:gs pos="0">
                    <a:srgbClr val="5347D9">
                      <a:alpha val="100000"/>
                    </a:srgbClr>
                  </a:gs>
                  <a:gs pos="100000">
                    <a:srgbClr val="5347D9">
                      <a:alpha val="0"/>
                    </a:srgbClr>
                  </a:gs>
                </a:gsLst>
                <a:lin ang="2700000"/>
              </a:gradFill>
              <a:prstDash val="solid"/>
              <a:round/>
            </a:ln>
          </p:spPr>
        </p:sp>
        <p:sp>
          <p:nvSpPr>
            <p:cNvPr name="TextBox 5" id="5"/>
            <p:cNvSpPr txBox="true"/>
            <p:nvPr/>
          </p:nvSpPr>
          <p:spPr>
            <a:xfrm>
              <a:off x="0" y="-66675"/>
              <a:ext cx="5398383" cy="1208717"/>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6" id="6"/>
          <p:cNvSpPr/>
          <p:nvPr/>
        </p:nvSpPr>
        <p:spPr>
          <a:xfrm flipH="false" flipV="false" rot="0">
            <a:off x="5877062" y="7542158"/>
            <a:ext cx="5627707" cy="813673"/>
          </a:xfrm>
          <a:custGeom>
            <a:avLst/>
            <a:gdLst/>
            <a:ahLst/>
            <a:cxnLst/>
            <a:rect r="r" b="b" t="t" l="l"/>
            <a:pathLst>
              <a:path h="813673" w="5627707">
                <a:moveTo>
                  <a:pt x="0" y="0"/>
                </a:moveTo>
                <a:lnTo>
                  <a:pt x="5627707" y="0"/>
                </a:lnTo>
                <a:lnTo>
                  <a:pt x="5627707" y="813673"/>
                </a:lnTo>
                <a:lnTo>
                  <a:pt x="0" y="813673"/>
                </a:lnTo>
                <a:lnTo>
                  <a:pt x="0" y="0"/>
                </a:lnTo>
                <a:close/>
              </a:path>
            </a:pathLst>
          </a:custGeom>
          <a:blipFill>
            <a:blip r:embed="rId4"/>
            <a:stretch>
              <a:fillRect l="0" t="0" r="0" b="0"/>
            </a:stretch>
          </a:blipFill>
        </p:spPr>
      </p:sp>
      <p:grpSp>
        <p:nvGrpSpPr>
          <p:cNvPr name="Group 7" id="7"/>
          <p:cNvGrpSpPr/>
          <p:nvPr/>
        </p:nvGrpSpPr>
        <p:grpSpPr>
          <a:xfrm rot="0">
            <a:off x="3593859" y="4837557"/>
            <a:ext cx="10563809" cy="2979659"/>
            <a:chOff x="0" y="0"/>
            <a:chExt cx="5398383" cy="1522684"/>
          </a:xfrm>
        </p:grpSpPr>
        <p:sp>
          <p:nvSpPr>
            <p:cNvPr name="Freeform 8" id="8"/>
            <p:cNvSpPr/>
            <p:nvPr/>
          </p:nvSpPr>
          <p:spPr>
            <a:xfrm flipH="false" flipV="false" rot="0">
              <a:off x="0" y="0"/>
              <a:ext cx="5398383" cy="1522684"/>
            </a:xfrm>
            <a:custGeom>
              <a:avLst/>
              <a:gdLst/>
              <a:ahLst/>
              <a:cxnLst/>
              <a:rect r="r" b="b" t="t" l="l"/>
              <a:pathLst>
                <a:path h="1522684" w="5398383">
                  <a:moveTo>
                    <a:pt x="34445" y="0"/>
                  </a:moveTo>
                  <a:lnTo>
                    <a:pt x="5363938" y="0"/>
                  </a:lnTo>
                  <a:cubicBezTo>
                    <a:pt x="5382961" y="0"/>
                    <a:pt x="5398383" y="15422"/>
                    <a:pt x="5398383" y="34445"/>
                  </a:cubicBezTo>
                  <a:lnTo>
                    <a:pt x="5398383" y="1488239"/>
                  </a:lnTo>
                  <a:cubicBezTo>
                    <a:pt x="5398383" y="1507262"/>
                    <a:pt x="5382961" y="1522684"/>
                    <a:pt x="5363938" y="1522684"/>
                  </a:cubicBezTo>
                  <a:lnTo>
                    <a:pt x="34445" y="1522684"/>
                  </a:lnTo>
                  <a:cubicBezTo>
                    <a:pt x="15422" y="1522684"/>
                    <a:pt x="0" y="1507262"/>
                    <a:pt x="0" y="1488239"/>
                  </a:cubicBezTo>
                  <a:lnTo>
                    <a:pt x="0" y="34445"/>
                  </a:lnTo>
                  <a:cubicBezTo>
                    <a:pt x="0" y="15422"/>
                    <a:pt x="15422" y="0"/>
                    <a:pt x="34445" y="0"/>
                  </a:cubicBezTo>
                  <a:close/>
                </a:path>
              </a:pathLst>
            </a:custGeom>
            <a:gradFill rotWithShape="true">
              <a:gsLst>
                <a:gs pos="0">
                  <a:srgbClr val="5347D9">
                    <a:alpha val="75000"/>
                  </a:srgbClr>
                </a:gs>
                <a:gs pos="100000">
                  <a:srgbClr val="5347D9">
                    <a:alpha val="0"/>
                  </a:srgbClr>
                </a:gs>
              </a:gsLst>
              <a:lin ang="5400000"/>
            </a:gradFill>
            <a:ln w="38100" cap="rnd">
              <a:gradFill>
                <a:gsLst>
                  <a:gs pos="0">
                    <a:srgbClr val="5347D9">
                      <a:alpha val="100000"/>
                    </a:srgbClr>
                  </a:gs>
                  <a:gs pos="100000">
                    <a:srgbClr val="5347D9">
                      <a:alpha val="0"/>
                    </a:srgbClr>
                  </a:gs>
                </a:gsLst>
                <a:lin ang="2700000"/>
              </a:gradFill>
              <a:prstDash val="solid"/>
              <a:round/>
            </a:ln>
          </p:spPr>
        </p:sp>
        <p:sp>
          <p:nvSpPr>
            <p:cNvPr name="TextBox 9" id="9"/>
            <p:cNvSpPr txBox="true"/>
            <p:nvPr/>
          </p:nvSpPr>
          <p:spPr>
            <a:xfrm>
              <a:off x="0" y="-66675"/>
              <a:ext cx="5398383" cy="1589359"/>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0" id="10"/>
          <p:cNvSpPr/>
          <p:nvPr/>
        </p:nvSpPr>
        <p:spPr>
          <a:xfrm flipH="false" flipV="false" rot="0">
            <a:off x="15839579" y="191226"/>
            <a:ext cx="1978710" cy="1978710"/>
          </a:xfrm>
          <a:custGeom>
            <a:avLst/>
            <a:gdLst/>
            <a:ahLst/>
            <a:cxnLst/>
            <a:rect r="r" b="b" t="t" l="l"/>
            <a:pathLst>
              <a:path h="1978710" w="1978710">
                <a:moveTo>
                  <a:pt x="0" y="0"/>
                </a:moveTo>
                <a:lnTo>
                  <a:pt x="1978710" y="0"/>
                </a:lnTo>
                <a:lnTo>
                  <a:pt x="1978710" y="1978711"/>
                </a:lnTo>
                <a:lnTo>
                  <a:pt x="0" y="1978711"/>
                </a:lnTo>
                <a:lnTo>
                  <a:pt x="0" y="0"/>
                </a:lnTo>
                <a:close/>
              </a:path>
            </a:pathLst>
          </a:custGeom>
          <a:blipFill>
            <a:blip r:embed="rId5"/>
            <a:stretch>
              <a:fillRect l="0" t="0" r="0" b="0"/>
            </a:stretch>
          </a:blipFill>
        </p:spPr>
      </p:sp>
      <p:sp>
        <p:nvSpPr>
          <p:cNvPr name="Freeform 11" id="11"/>
          <p:cNvSpPr/>
          <p:nvPr/>
        </p:nvSpPr>
        <p:spPr>
          <a:xfrm flipH="false" flipV="false" rot="0">
            <a:off x="0" y="191226"/>
            <a:ext cx="1911949" cy="1674947"/>
          </a:xfrm>
          <a:custGeom>
            <a:avLst/>
            <a:gdLst/>
            <a:ahLst/>
            <a:cxnLst/>
            <a:rect r="r" b="b" t="t" l="l"/>
            <a:pathLst>
              <a:path h="1674947" w="1911949">
                <a:moveTo>
                  <a:pt x="0" y="0"/>
                </a:moveTo>
                <a:lnTo>
                  <a:pt x="1911949" y="0"/>
                </a:lnTo>
                <a:lnTo>
                  <a:pt x="1911949" y="1674948"/>
                </a:lnTo>
                <a:lnTo>
                  <a:pt x="0" y="1674948"/>
                </a:lnTo>
                <a:lnTo>
                  <a:pt x="0" y="0"/>
                </a:lnTo>
                <a:close/>
              </a:path>
            </a:pathLst>
          </a:custGeom>
          <a:blipFill>
            <a:blip r:embed="rId6"/>
            <a:stretch>
              <a:fillRect l="0" t="0" r="0" b="0"/>
            </a:stretch>
          </a:blipFill>
        </p:spPr>
      </p:sp>
      <p:sp>
        <p:nvSpPr>
          <p:cNvPr name="TextBox 12" id="12"/>
          <p:cNvSpPr txBox="true"/>
          <p:nvPr/>
        </p:nvSpPr>
        <p:spPr>
          <a:xfrm rot="0">
            <a:off x="5628453" y="576389"/>
            <a:ext cx="6494622" cy="961771"/>
          </a:xfrm>
          <a:prstGeom prst="rect">
            <a:avLst/>
          </a:prstGeom>
        </p:spPr>
        <p:txBody>
          <a:bodyPr anchor="t" rtlCol="false" tIns="0" lIns="0" bIns="0" rIns="0">
            <a:spAutoFit/>
          </a:bodyPr>
          <a:lstStyle/>
          <a:p>
            <a:pPr algn="l">
              <a:lnSpc>
                <a:spcPts val="6767"/>
              </a:lnSpc>
            </a:pPr>
            <a:r>
              <a:rPr lang="en-US" sz="6700" b="true">
                <a:solidFill>
                  <a:srgbClr val="FFFFFF"/>
                </a:solidFill>
                <a:latin typeface="Poppins Bold"/>
                <a:ea typeface="Poppins Bold"/>
                <a:cs typeface="Poppins Bold"/>
                <a:sym typeface="Poppins Bold"/>
              </a:rPr>
              <a:t>SEJARAH HIMTI</a:t>
            </a:r>
          </a:p>
        </p:txBody>
      </p:sp>
      <p:sp>
        <p:nvSpPr>
          <p:cNvPr name="TextBox 13" id="13"/>
          <p:cNvSpPr txBox="true"/>
          <p:nvPr/>
        </p:nvSpPr>
        <p:spPr>
          <a:xfrm rot="0">
            <a:off x="4390176" y="2073601"/>
            <a:ext cx="8971177" cy="2159635"/>
          </a:xfrm>
          <a:prstGeom prst="rect">
            <a:avLst/>
          </a:prstGeom>
        </p:spPr>
        <p:txBody>
          <a:bodyPr anchor="t" rtlCol="false" tIns="0" lIns="0" bIns="0" rIns="0">
            <a:spAutoFit/>
          </a:bodyPr>
          <a:lstStyle/>
          <a:p>
            <a:pPr algn="just">
              <a:lnSpc>
                <a:spcPts val="4339"/>
              </a:lnSpc>
            </a:pPr>
            <a:r>
              <a:rPr lang="en-US" sz="3099">
                <a:solidFill>
                  <a:srgbClr val="FFFFFF"/>
                </a:solidFill>
                <a:latin typeface="Montserrat"/>
                <a:ea typeface="Montserrat"/>
                <a:cs typeface="Montserrat"/>
                <a:sym typeface="Montserrat"/>
              </a:rPr>
              <a:t>   Sejarah Himti pertama kali berdiri pada tanggal 1 Oktober tahun 2013 yang di ketuai pertama kali oleh Rahmat Irawan S. T. </a:t>
            </a:r>
          </a:p>
          <a:p>
            <a:pPr algn="just">
              <a:lnSpc>
                <a:spcPts val="4339"/>
              </a:lnSpc>
            </a:pPr>
          </a:p>
        </p:txBody>
      </p:sp>
      <p:sp>
        <p:nvSpPr>
          <p:cNvPr name="TextBox 14" id="14"/>
          <p:cNvSpPr txBox="true"/>
          <p:nvPr/>
        </p:nvSpPr>
        <p:spPr>
          <a:xfrm rot="0">
            <a:off x="4390176" y="4841803"/>
            <a:ext cx="8971177" cy="2702560"/>
          </a:xfrm>
          <a:prstGeom prst="rect">
            <a:avLst/>
          </a:prstGeom>
        </p:spPr>
        <p:txBody>
          <a:bodyPr anchor="t" rtlCol="false" tIns="0" lIns="0" bIns="0" rIns="0">
            <a:spAutoFit/>
          </a:bodyPr>
          <a:lstStyle/>
          <a:p>
            <a:pPr algn="just">
              <a:lnSpc>
                <a:spcPts val="4339"/>
              </a:lnSpc>
            </a:pPr>
            <a:r>
              <a:rPr lang="en-US" sz="3099">
                <a:solidFill>
                  <a:srgbClr val="FFFFFF"/>
                </a:solidFill>
                <a:latin typeface="Montserrat"/>
                <a:ea typeface="Montserrat"/>
                <a:cs typeface="Montserrat"/>
                <a:sym typeface="Montserrat"/>
              </a:rPr>
              <a:t>   Kepengurusan Himti mulai bergabung di permikomnas pada tanggal 16 Desember 2021 tepatnya dalam acara Musyawarah Wilayah 1 Aceh-Sumut di Universitas Malikul Saleh Lhoksmawe Aceh.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true" flipV="false" rot="0">
            <a:off x="-1382487" y="-1127720"/>
            <a:ext cx="19177100" cy="10470124"/>
          </a:xfrm>
          <a:custGeom>
            <a:avLst/>
            <a:gdLst/>
            <a:ahLst/>
            <a:cxnLst/>
            <a:rect r="r" b="b" t="t" l="l"/>
            <a:pathLst>
              <a:path h="10470124" w="19177100">
                <a:moveTo>
                  <a:pt x="19177100" y="0"/>
                </a:moveTo>
                <a:lnTo>
                  <a:pt x="0" y="0"/>
                </a:lnTo>
                <a:lnTo>
                  <a:pt x="0" y="10470124"/>
                </a:lnTo>
                <a:lnTo>
                  <a:pt x="19177100" y="10470124"/>
                </a:lnTo>
                <a:lnTo>
                  <a:pt x="19177100" y="0"/>
                </a:lnTo>
                <a:close/>
              </a:path>
            </a:pathLst>
          </a:custGeom>
          <a:blipFill>
            <a:blip r:embed="rId2">
              <a:alphaModFix amt="80000"/>
            </a:blip>
            <a:stretch>
              <a:fillRect l="-8158" t="0" r="-13167" b="0"/>
            </a:stretch>
          </a:blipFill>
        </p:spPr>
      </p:sp>
      <p:grpSp>
        <p:nvGrpSpPr>
          <p:cNvPr name="Group 3" id="3"/>
          <p:cNvGrpSpPr/>
          <p:nvPr/>
        </p:nvGrpSpPr>
        <p:grpSpPr>
          <a:xfrm rot="0">
            <a:off x="0" y="5762772"/>
            <a:ext cx="18288000" cy="4524228"/>
            <a:chOff x="0" y="0"/>
            <a:chExt cx="9345646" cy="2311999"/>
          </a:xfrm>
        </p:grpSpPr>
        <p:sp>
          <p:nvSpPr>
            <p:cNvPr name="Freeform 4" id="4"/>
            <p:cNvSpPr/>
            <p:nvPr/>
          </p:nvSpPr>
          <p:spPr>
            <a:xfrm flipH="false" flipV="false" rot="0">
              <a:off x="0" y="0"/>
              <a:ext cx="9345647" cy="2311999"/>
            </a:xfrm>
            <a:custGeom>
              <a:avLst/>
              <a:gdLst/>
              <a:ahLst/>
              <a:cxnLst/>
              <a:rect r="r" b="b" t="t" l="l"/>
              <a:pathLst>
                <a:path h="2311999" w="9345647">
                  <a:moveTo>
                    <a:pt x="0" y="0"/>
                  </a:moveTo>
                  <a:lnTo>
                    <a:pt x="9345647" y="0"/>
                  </a:lnTo>
                  <a:lnTo>
                    <a:pt x="9345647" y="2311999"/>
                  </a:lnTo>
                  <a:lnTo>
                    <a:pt x="0" y="2311999"/>
                  </a:lnTo>
                  <a:close/>
                </a:path>
              </a:pathLst>
            </a:custGeom>
            <a:gradFill rotWithShape="true">
              <a:gsLst>
                <a:gs pos="0">
                  <a:srgbClr val="151037">
                    <a:alpha val="0"/>
                  </a:srgbClr>
                </a:gs>
                <a:gs pos="50000">
                  <a:srgbClr val="151037">
                    <a:alpha val="100000"/>
                  </a:srgbClr>
                </a:gs>
                <a:gs pos="100000">
                  <a:srgbClr val="151037">
                    <a:alpha val="100000"/>
                  </a:srgbClr>
                </a:gs>
              </a:gsLst>
              <a:lin ang="5400000"/>
            </a:gradFill>
          </p:spPr>
        </p:sp>
        <p:sp>
          <p:nvSpPr>
            <p:cNvPr name="TextBox 5" id="5"/>
            <p:cNvSpPr txBox="true"/>
            <p:nvPr/>
          </p:nvSpPr>
          <p:spPr>
            <a:xfrm>
              <a:off x="0" y="-66675"/>
              <a:ext cx="9345646" cy="2378674"/>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8206063" y="925819"/>
            <a:ext cx="242893" cy="278786"/>
          </a:xfrm>
          <a:custGeom>
            <a:avLst/>
            <a:gdLst/>
            <a:ahLst/>
            <a:cxnLst/>
            <a:rect r="r" b="b" t="t" l="l"/>
            <a:pathLst>
              <a:path h="278786" w="242893">
                <a:moveTo>
                  <a:pt x="0" y="0"/>
                </a:moveTo>
                <a:lnTo>
                  <a:pt x="242893" y="0"/>
                </a:lnTo>
                <a:lnTo>
                  <a:pt x="242893" y="278787"/>
                </a:lnTo>
                <a:lnTo>
                  <a:pt x="0" y="278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327509" y="3036790"/>
            <a:ext cx="242893" cy="278786"/>
          </a:xfrm>
          <a:custGeom>
            <a:avLst/>
            <a:gdLst/>
            <a:ahLst/>
            <a:cxnLst/>
            <a:rect r="r" b="b" t="t" l="l"/>
            <a:pathLst>
              <a:path h="278786" w="242893">
                <a:moveTo>
                  <a:pt x="0" y="0"/>
                </a:moveTo>
                <a:lnTo>
                  <a:pt x="242893" y="0"/>
                </a:lnTo>
                <a:lnTo>
                  <a:pt x="242893" y="278786"/>
                </a:lnTo>
                <a:lnTo>
                  <a:pt x="0" y="2787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9348704" y="5991425"/>
            <a:ext cx="7480230" cy="2945254"/>
            <a:chOff x="0" y="0"/>
            <a:chExt cx="9973640" cy="3927005"/>
          </a:xfrm>
        </p:grpSpPr>
        <p:pic>
          <p:nvPicPr>
            <p:cNvPr name="Picture 9" id="9"/>
            <p:cNvPicPr>
              <a:picLocks noChangeAspect="true"/>
            </p:cNvPicPr>
            <p:nvPr/>
          </p:nvPicPr>
          <p:blipFill>
            <a:blip r:embed="rId5"/>
            <a:srcRect l="0" t="5759" r="0" b="5759"/>
            <a:stretch>
              <a:fillRect/>
            </a:stretch>
          </p:blipFill>
          <p:spPr>
            <a:xfrm flipH="true" flipV="false">
              <a:off x="0" y="0"/>
              <a:ext cx="9973640" cy="3927005"/>
            </a:xfrm>
            <a:prstGeom prst="rect">
              <a:avLst/>
            </a:prstGeom>
          </p:spPr>
        </p:pic>
      </p:grpSp>
      <p:grpSp>
        <p:nvGrpSpPr>
          <p:cNvPr name="Group 10" id="10"/>
          <p:cNvGrpSpPr/>
          <p:nvPr/>
        </p:nvGrpSpPr>
        <p:grpSpPr>
          <a:xfrm rot="0">
            <a:off x="9348704" y="5991425"/>
            <a:ext cx="7480230" cy="2945254"/>
            <a:chOff x="0" y="0"/>
            <a:chExt cx="1970102" cy="775705"/>
          </a:xfrm>
        </p:grpSpPr>
        <p:sp>
          <p:nvSpPr>
            <p:cNvPr name="Freeform 11" id="11"/>
            <p:cNvSpPr/>
            <p:nvPr/>
          </p:nvSpPr>
          <p:spPr>
            <a:xfrm flipH="false" flipV="false" rot="0">
              <a:off x="0" y="0"/>
              <a:ext cx="1970102" cy="775705"/>
            </a:xfrm>
            <a:custGeom>
              <a:avLst/>
              <a:gdLst/>
              <a:ahLst/>
              <a:cxnLst/>
              <a:rect r="r" b="b" t="t" l="l"/>
              <a:pathLst>
                <a:path h="775705" w="1970102">
                  <a:moveTo>
                    <a:pt x="42434" y="0"/>
                  </a:moveTo>
                  <a:lnTo>
                    <a:pt x="1927667" y="0"/>
                  </a:lnTo>
                  <a:cubicBezTo>
                    <a:pt x="1938922" y="0"/>
                    <a:pt x="1949715" y="4471"/>
                    <a:pt x="1957673" y="12429"/>
                  </a:cubicBezTo>
                  <a:cubicBezTo>
                    <a:pt x="1965631" y="20387"/>
                    <a:pt x="1970102" y="31180"/>
                    <a:pt x="1970102" y="42434"/>
                  </a:cubicBezTo>
                  <a:lnTo>
                    <a:pt x="1970102" y="733270"/>
                  </a:lnTo>
                  <a:cubicBezTo>
                    <a:pt x="1970102" y="744525"/>
                    <a:pt x="1965631" y="755318"/>
                    <a:pt x="1957673" y="763276"/>
                  </a:cubicBezTo>
                  <a:cubicBezTo>
                    <a:pt x="1949715" y="771234"/>
                    <a:pt x="1938922" y="775705"/>
                    <a:pt x="1927667" y="775705"/>
                  </a:cubicBezTo>
                  <a:lnTo>
                    <a:pt x="42434" y="775705"/>
                  </a:lnTo>
                  <a:cubicBezTo>
                    <a:pt x="31180" y="775705"/>
                    <a:pt x="20387" y="771234"/>
                    <a:pt x="12429" y="763276"/>
                  </a:cubicBezTo>
                  <a:cubicBezTo>
                    <a:pt x="4471" y="755318"/>
                    <a:pt x="0" y="744525"/>
                    <a:pt x="0" y="733270"/>
                  </a:cubicBezTo>
                  <a:lnTo>
                    <a:pt x="0" y="42434"/>
                  </a:lnTo>
                  <a:cubicBezTo>
                    <a:pt x="0" y="31180"/>
                    <a:pt x="4471" y="20387"/>
                    <a:pt x="12429" y="12429"/>
                  </a:cubicBezTo>
                  <a:cubicBezTo>
                    <a:pt x="20387" y="4471"/>
                    <a:pt x="31180" y="0"/>
                    <a:pt x="42434" y="0"/>
                  </a:cubicBezTo>
                  <a:close/>
                </a:path>
              </a:pathLst>
            </a:custGeom>
            <a:ln w="95250" cap="rnd">
              <a:gradFill>
                <a:gsLst>
                  <a:gs pos="0">
                    <a:srgbClr val="5347D9">
                      <a:alpha val="0"/>
                    </a:srgbClr>
                  </a:gs>
                  <a:gs pos="100000">
                    <a:srgbClr val="5347D9">
                      <a:alpha val="100000"/>
                    </a:srgbClr>
                  </a:gs>
                </a:gsLst>
                <a:path path="circle">
                  <a:fillToRect l="0" r="100000" t="0" b="100000"/>
                </a:path>
                <a:tileRect r="0" l="-100000" b="0" t="-100000"/>
              </a:gradFill>
              <a:prstDash val="solid"/>
              <a:round/>
            </a:ln>
          </p:spPr>
        </p:sp>
        <p:sp>
          <p:nvSpPr>
            <p:cNvPr name="TextBox 12" id="12"/>
            <p:cNvSpPr txBox="true"/>
            <p:nvPr/>
          </p:nvSpPr>
          <p:spPr>
            <a:xfrm>
              <a:off x="0" y="-66675"/>
              <a:ext cx="1970102" cy="842380"/>
            </a:xfrm>
            <a:prstGeom prst="rect">
              <a:avLst/>
            </a:prstGeom>
          </p:spPr>
          <p:txBody>
            <a:bodyPr anchor="ctr" rtlCol="false" tIns="50800" lIns="50800" bIns="50800" rIns="50800"/>
            <a:lstStyle/>
            <a:p>
              <a:pPr algn="ctr">
                <a:lnSpc>
                  <a:spcPts val="3499"/>
                </a:lnSpc>
              </a:pPr>
            </a:p>
          </p:txBody>
        </p:sp>
      </p:grpSp>
      <p:sp>
        <p:nvSpPr>
          <p:cNvPr name="Freeform 13" id="13"/>
          <p:cNvSpPr/>
          <p:nvPr/>
        </p:nvSpPr>
        <p:spPr>
          <a:xfrm flipH="false" flipV="false" rot="0">
            <a:off x="8855054" y="5547545"/>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6"/>
            <a:stretch>
              <a:fillRect l="0" t="0" r="0" b="0"/>
            </a:stretch>
          </a:blipFill>
          <a:ln cap="sq">
            <a:noFill/>
            <a:prstDash val="solid"/>
            <a:miter/>
          </a:ln>
        </p:spPr>
      </p:sp>
      <p:sp>
        <p:nvSpPr>
          <p:cNvPr name="Freeform 14" id="14"/>
          <p:cNvSpPr/>
          <p:nvPr/>
        </p:nvSpPr>
        <p:spPr>
          <a:xfrm flipH="false" flipV="false" rot="0">
            <a:off x="10995202" y="8454644"/>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7"/>
            <a:stretch>
              <a:fillRect l="0" t="0" r="0" b="0"/>
            </a:stretch>
          </a:blipFill>
        </p:spPr>
      </p:sp>
      <p:sp>
        <p:nvSpPr>
          <p:cNvPr name="Freeform 15" id="15"/>
          <p:cNvSpPr/>
          <p:nvPr/>
        </p:nvSpPr>
        <p:spPr>
          <a:xfrm flipH="false" flipV="false" rot="0">
            <a:off x="1493438" y="2833152"/>
            <a:ext cx="6425148" cy="6425148"/>
          </a:xfrm>
          <a:custGeom>
            <a:avLst/>
            <a:gdLst/>
            <a:ahLst/>
            <a:cxnLst/>
            <a:rect r="r" b="b" t="t" l="l"/>
            <a:pathLst>
              <a:path h="6425148" w="6425148">
                <a:moveTo>
                  <a:pt x="0" y="0"/>
                </a:moveTo>
                <a:lnTo>
                  <a:pt x="6425149" y="0"/>
                </a:lnTo>
                <a:lnTo>
                  <a:pt x="6425149" y="6425148"/>
                </a:lnTo>
                <a:lnTo>
                  <a:pt x="0" y="6425148"/>
                </a:lnTo>
                <a:lnTo>
                  <a:pt x="0" y="0"/>
                </a:lnTo>
                <a:close/>
              </a:path>
            </a:pathLst>
          </a:custGeom>
          <a:blipFill>
            <a:blip r:embed="rId8"/>
            <a:stretch>
              <a:fillRect l="0" t="0" r="0" b="0"/>
            </a:stretch>
          </a:blipFill>
        </p:spPr>
      </p:sp>
      <p:sp>
        <p:nvSpPr>
          <p:cNvPr name="TextBox 16" id="16"/>
          <p:cNvSpPr txBox="true"/>
          <p:nvPr/>
        </p:nvSpPr>
        <p:spPr>
          <a:xfrm rot="0">
            <a:off x="1778959" y="1217769"/>
            <a:ext cx="5854107" cy="1819021"/>
          </a:xfrm>
          <a:prstGeom prst="rect">
            <a:avLst/>
          </a:prstGeom>
        </p:spPr>
        <p:txBody>
          <a:bodyPr anchor="t" rtlCol="false" tIns="0" lIns="0" bIns="0" rIns="0">
            <a:spAutoFit/>
          </a:bodyPr>
          <a:lstStyle/>
          <a:p>
            <a:pPr algn="ctr">
              <a:lnSpc>
                <a:spcPts val="6767"/>
              </a:lnSpc>
            </a:pPr>
            <a:r>
              <a:rPr lang="en-US" sz="6700" b="true">
                <a:solidFill>
                  <a:srgbClr val="FFFFFF"/>
                </a:solidFill>
                <a:latin typeface="Poppins Bold"/>
                <a:ea typeface="Poppins Bold"/>
                <a:cs typeface="Poppins Bold"/>
                <a:sym typeface="Poppins Bold"/>
              </a:rPr>
              <a:t>VISI DAN MISI</a:t>
            </a:r>
          </a:p>
          <a:p>
            <a:pPr algn="ctr">
              <a:lnSpc>
                <a:spcPts val="6767"/>
              </a:lnSpc>
            </a:pPr>
            <a:r>
              <a:rPr lang="en-US" sz="6700" b="true">
                <a:solidFill>
                  <a:srgbClr val="FFFFFF"/>
                </a:solidFill>
                <a:latin typeface="Poppins Bold"/>
                <a:ea typeface="Poppins Bold"/>
                <a:cs typeface="Poppins Bold"/>
                <a:sym typeface="Poppins Bold"/>
              </a:rPr>
              <a:t>HIMTI</a:t>
            </a:r>
          </a:p>
        </p:txBody>
      </p:sp>
      <p:sp>
        <p:nvSpPr>
          <p:cNvPr name="TextBox 17" id="17"/>
          <p:cNvSpPr txBox="true"/>
          <p:nvPr/>
        </p:nvSpPr>
        <p:spPr>
          <a:xfrm rot="0">
            <a:off x="8639924" y="1289905"/>
            <a:ext cx="9286085" cy="1470660"/>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HIMTI  UNA  mwmpunyai visi untuk membantu Mahasiswa Teknik  Informatika baik dalam hal akedemik maupun lainya yang menyangkut ilmu Teknologi disamping itu juga sebagai wadah untuk menampung aspirasi mahasiswa /I Teknik Informatika</a:t>
            </a:r>
          </a:p>
        </p:txBody>
      </p:sp>
      <p:sp>
        <p:nvSpPr>
          <p:cNvPr name="TextBox 18" id="18"/>
          <p:cNvSpPr txBox="true"/>
          <p:nvPr/>
        </p:nvSpPr>
        <p:spPr>
          <a:xfrm rot="0">
            <a:off x="8594359" y="3451726"/>
            <a:ext cx="8687681" cy="1842135"/>
          </a:xfrm>
          <a:prstGeom prst="rect">
            <a:avLst/>
          </a:prstGeom>
        </p:spPr>
        <p:txBody>
          <a:bodyPr anchor="t" rtlCol="false" tIns="0" lIns="0" bIns="0" rIns="0">
            <a:spAutoFit/>
          </a:bodyPr>
          <a:lstStyle/>
          <a:p>
            <a:pPr algn="just">
              <a:lnSpc>
                <a:spcPts val="2940"/>
              </a:lnSpc>
            </a:pPr>
            <a:r>
              <a:rPr lang="en-US" sz="2100">
                <a:solidFill>
                  <a:srgbClr val="FFFFFF"/>
                </a:solidFill>
                <a:latin typeface="Montserrat"/>
                <a:ea typeface="Montserrat"/>
                <a:cs typeface="Montserrat"/>
                <a:sym typeface="Montserrat"/>
              </a:rPr>
              <a:t>HIMTI UNA mempunyai misi mengembangkan minat dan bakat Mahasiswa Teknik informatika Universitas Asahan,Membantu Mahasiswa Teknik Informatika dalam menyelesaikan tugas studi nya,Mempererat silahturahmi Mahasiswa Teknik Informatika  bersama seniorer dan alumni Teknik Informatika.</a:t>
            </a:r>
          </a:p>
        </p:txBody>
      </p:sp>
      <p:sp>
        <p:nvSpPr>
          <p:cNvPr name="TextBox 19" id="19"/>
          <p:cNvSpPr txBox="true"/>
          <p:nvPr/>
        </p:nvSpPr>
        <p:spPr>
          <a:xfrm rot="0">
            <a:off x="8594359" y="774700"/>
            <a:ext cx="3545967" cy="441325"/>
          </a:xfrm>
          <a:prstGeom prst="rect">
            <a:avLst/>
          </a:prstGeom>
        </p:spPr>
        <p:txBody>
          <a:bodyPr anchor="t" rtlCol="false" tIns="0" lIns="0" bIns="0" rIns="0">
            <a:spAutoFit/>
          </a:bodyPr>
          <a:lstStyle/>
          <a:p>
            <a:pPr algn="l">
              <a:lnSpc>
                <a:spcPts val="3499"/>
              </a:lnSpc>
            </a:pPr>
            <a:r>
              <a:rPr lang="en-US" sz="2499" b="true">
                <a:solidFill>
                  <a:srgbClr val="FFFFFF"/>
                </a:solidFill>
                <a:latin typeface="Poppins Bold"/>
                <a:ea typeface="Poppins Bold"/>
                <a:cs typeface="Poppins Bold"/>
                <a:sym typeface="Poppins Bold"/>
              </a:rPr>
              <a:t>VISI</a:t>
            </a:r>
          </a:p>
        </p:txBody>
      </p:sp>
      <p:sp>
        <p:nvSpPr>
          <p:cNvPr name="TextBox 20" id="20"/>
          <p:cNvSpPr txBox="true"/>
          <p:nvPr/>
        </p:nvSpPr>
        <p:spPr>
          <a:xfrm rot="0">
            <a:off x="8766887" y="2951065"/>
            <a:ext cx="3494885" cy="441325"/>
          </a:xfrm>
          <a:prstGeom prst="rect">
            <a:avLst/>
          </a:prstGeom>
        </p:spPr>
        <p:txBody>
          <a:bodyPr anchor="t" rtlCol="false" tIns="0" lIns="0" bIns="0" rIns="0">
            <a:spAutoFit/>
          </a:bodyPr>
          <a:lstStyle/>
          <a:p>
            <a:pPr algn="l">
              <a:lnSpc>
                <a:spcPts val="3499"/>
              </a:lnSpc>
            </a:pPr>
            <a:r>
              <a:rPr lang="en-US" sz="2499" b="true">
                <a:solidFill>
                  <a:srgbClr val="FFFFFF"/>
                </a:solidFill>
                <a:latin typeface="Poppins Bold"/>
                <a:ea typeface="Poppins Bold"/>
                <a:cs typeface="Poppins Bold"/>
                <a:sym typeface="Poppins Bold"/>
              </a:rPr>
              <a:t>MISI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329469">
            <a:off x="4463838" y="2638992"/>
            <a:ext cx="18821161" cy="8116626"/>
          </a:xfrm>
          <a:custGeom>
            <a:avLst/>
            <a:gdLst/>
            <a:ahLst/>
            <a:cxnLst/>
            <a:rect r="r" b="b" t="t" l="l"/>
            <a:pathLst>
              <a:path h="8116626" w="18821161">
                <a:moveTo>
                  <a:pt x="0" y="8116626"/>
                </a:moveTo>
                <a:lnTo>
                  <a:pt x="18821161" y="8116626"/>
                </a:lnTo>
                <a:lnTo>
                  <a:pt x="18821161" y="0"/>
                </a:lnTo>
                <a:lnTo>
                  <a:pt x="0" y="0"/>
                </a:lnTo>
                <a:lnTo>
                  <a:pt x="0" y="811662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214768" y="-427645"/>
            <a:ext cx="15089186" cy="11669728"/>
            <a:chOff x="0" y="0"/>
            <a:chExt cx="20118915" cy="15559638"/>
          </a:xfrm>
        </p:grpSpPr>
        <p:pic>
          <p:nvPicPr>
            <p:cNvPr name="Picture 4" id="4"/>
            <p:cNvPicPr>
              <a:picLocks noChangeAspect="true"/>
            </p:cNvPicPr>
            <p:nvPr/>
          </p:nvPicPr>
          <p:blipFill>
            <a:blip r:embed="rId4">
              <a:alphaModFix amt="43999"/>
            </a:blip>
            <a:srcRect l="0" t="11330" r="0" b="11330"/>
            <a:stretch>
              <a:fillRect/>
            </a:stretch>
          </p:blipFill>
          <p:spPr>
            <a:xfrm flipH="false" flipV="false">
              <a:off x="0" y="0"/>
              <a:ext cx="20118915" cy="15559638"/>
            </a:xfrm>
            <a:prstGeom prst="rect">
              <a:avLst/>
            </a:prstGeom>
          </p:spPr>
        </p:pic>
      </p:grpSp>
      <p:sp>
        <p:nvSpPr>
          <p:cNvPr name="TextBox 5" id="5"/>
          <p:cNvSpPr txBox="true"/>
          <p:nvPr/>
        </p:nvSpPr>
        <p:spPr>
          <a:xfrm rot="0">
            <a:off x="2902420" y="1293759"/>
            <a:ext cx="12926988" cy="961771"/>
          </a:xfrm>
          <a:prstGeom prst="rect">
            <a:avLst/>
          </a:prstGeom>
        </p:spPr>
        <p:txBody>
          <a:bodyPr anchor="t" rtlCol="false" tIns="0" lIns="0" bIns="0" rIns="0">
            <a:spAutoFit/>
          </a:bodyPr>
          <a:lstStyle/>
          <a:p>
            <a:pPr algn="l">
              <a:lnSpc>
                <a:spcPts val="6767"/>
              </a:lnSpc>
            </a:pPr>
            <a:r>
              <a:rPr lang="en-US" sz="6700" b="true">
                <a:solidFill>
                  <a:srgbClr val="FFFFFF"/>
                </a:solidFill>
                <a:latin typeface="Poppins Bold"/>
                <a:ea typeface="Poppins Bold"/>
                <a:cs typeface="Poppins Bold"/>
                <a:sym typeface="Poppins Bold"/>
              </a:rPr>
              <a:t>DIVISI  KEPENGURUSAN HIMTI</a:t>
            </a:r>
          </a:p>
        </p:txBody>
      </p:sp>
      <p:sp>
        <p:nvSpPr>
          <p:cNvPr name="Freeform 6" id="6"/>
          <p:cNvSpPr/>
          <p:nvPr/>
        </p:nvSpPr>
        <p:spPr>
          <a:xfrm flipH="true" flipV="true" rot="0">
            <a:off x="16113306" y="1028700"/>
            <a:ext cx="1145994" cy="1145994"/>
          </a:xfrm>
          <a:custGeom>
            <a:avLst/>
            <a:gdLst/>
            <a:ahLst/>
            <a:cxnLst/>
            <a:rect r="r" b="b" t="t" l="l"/>
            <a:pathLst>
              <a:path h="1145994" w="1145994">
                <a:moveTo>
                  <a:pt x="1145994" y="1145994"/>
                </a:moveTo>
                <a:lnTo>
                  <a:pt x="0" y="1145994"/>
                </a:lnTo>
                <a:lnTo>
                  <a:pt x="0" y="0"/>
                </a:lnTo>
                <a:lnTo>
                  <a:pt x="1145994" y="0"/>
                </a:lnTo>
                <a:lnTo>
                  <a:pt x="1145994" y="1145994"/>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511850" y="2528964"/>
            <a:ext cx="8018105" cy="2878255"/>
            <a:chOff x="0" y="0"/>
            <a:chExt cx="10690806" cy="3837673"/>
          </a:xfrm>
        </p:grpSpPr>
        <p:grpSp>
          <p:nvGrpSpPr>
            <p:cNvPr name="Group 8" id="8"/>
            <p:cNvGrpSpPr/>
            <p:nvPr/>
          </p:nvGrpSpPr>
          <p:grpSpPr>
            <a:xfrm rot="0">
              <a:off x="978690" y="744794"/>
              <a:ext cx="5688548" cy="3092879"/>
              <a:chOff x="0" y="0"/>
              <a:chExt cx="860482" cy="467847"/>
            </a:xfrm>
          </p:grpSpPr>
          <p:sp>
            <p:nvSpPr>
              <p:cNvPr name="Freeform 9" id="9"/>
              <p:cNvSpPr/>
              <p:nvPr/>
            </p:nvSpPr>
            <p:spPr>
              <a:xfrm flipH="false" flipV="false" rot="0">
                <a:off x="0" y="0"/>
                <a:ext cx="860482" cy="467847"/>
              </a:xfrm>
              <a:custGeom>
                <a:avLst/>
                <a:gdLst/>
                <a:ahLst/>
                <a:cxnLst/>
                <a:rect r="r" b="b" t="t" l="l"/>
                <a:pathLst>
                  <a:path h="467847" w="860482">
                    <a:moveTo>
                      <a:pt x="0" y="0"/>
                    </a:moveTo>
                    <a:lnTo>
                      <a:pt x="860482" y="0"/>
                    </a:lnTo>
                    <a:lnTo>
                      <a:pt x="860482" y="467847"/>
                    </a:lnTo>
                    <a:lnTo>
                      <a:pt x="0" y="46784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0" id="10"/>
              <p:cNvSpPr txBox="true"/>
              <p:nvPr/>
            </p:nvSpPr>
            <p:spPr>
              <a:xfrm>
                <a:off x="0" y="-66675"/>
                <a:ext cx="860482" cy="534522"/>
              </a:xfrm>
              <a:prstGeom prst="rect">
                <a:avLst/>
              </a:prstGeom>
            </p:spPr>
            <p:txBody>
              <a:bodyPr anchor="ctr" rtlCol="false" tIns="66337" lIns="66337" bIns="66337" rIns="66337"/>
              <a:lstStyle/>
              <a:p>
                <a:pPr algn="ctr" marL="0" indent="0" lvl="0">
                  <a:lnSpc>
                    <a:spcPts val="3359"/>
                  </a:lnSpc>
                  <a:spcBef>
                    <a:spcPct val="0"/>
                  </a:spcBef>
                </a:pPr>
              </a:p>
            </p:txBody>
          </p:sp>
        </p:grpSp>
        <p:sp>
          <p:nvSpPr>
            <p:cNvPr name="Freeform 11" id="11"/>
            <p:cNvSpPr/>
            <p:nvPr/>
          </p:nvSpPr>
          <p:spPr>
            <a:xfrm flipH="false" flipV="false" rot="0">
              <a:off x="0" y="0"/>
              <a:ext cx="10690806" cy="1545712"/>
            </a:xfrm>
            <a:custGeom>
              <a:avLst/>
              <a:gdLst/>
              <a:ahLst/>
              <a:cxnLst/>
              <a:rect r="r" b="b" t="t" l="l"/>
              <a:pathLst>
                <a:path h="1545712" w="10690806">
                  <a:moveTo>
                    <a:pt x="0" y="0"/>
                  </a:moveTo>
                  <a:lnTo>
                    <a:pt x="10690806" y="0"/>
                  </a:lnTo>
                  <a:lnTo>
                    <a:pt x="10690806" y="1545712"/>
                  </a:lnTo>
                  <a:lnTo>
                    <a:pt x="0" y="1545712"/>
                  </a:lnTo>
                  <a:lnTo>
                    <a:pt x="0" y="0"/>
                  </a:lnTo>
                  <a:close/>
                </a:path>
              </a:pathLst>
            </a:custGeom>
            <a:blipFill>
              <a:blip r:embed="rId7"/>
              <a:stretch>
                <a:fillRect l="0" t="0" r="0" b="0"/>
              </a:stretch>
            </a:blipFill>
            <a:ln cap="sq">
              <a:noFill/>
              <a:prstDash val="solid"/>
              <a:miter/>
            </a:ln>
          </p:spPr>
        </p:sp>
        <p:sp>
          <p:nvSpPr>
            <p:cNvPr name="TextBox 12" id="12"/>
            <p:cNvSpPr txBox="true"/>
            <p:nvPr/>
          </p:nvSpPr>
          <p:spPr>
            <a:xfrm rot="0">
              <a:off x="1377893" y="1658014"/>
              <a:ext cx="4946169" cy="1123563"/>
            </a:xfrm>
            <a:prstGeom prst="rect">
              <a:avLst/>
            </a:prstGeom>
          </p:spPr>
          <p:txBody>
            <a:bodyPr anchor="t" rtlCol="false" tIns="0" lIns="0" bIns="0" rIns="0">
              <a:spAutoFit/>
            </a:bodyPr>
            <a:lstStyle/>
            <a:p>
              <a:pPr algn="l">
                <a:lnSpc>
                  <a:spcPts val="6764"/>
                </a:lnSpc>
              </a:pPr>
              <a:r>
                <a:rPr lang="en-US" sz="4831" b="true">
                  <a:solidFill>
                    <a:srgbClr val="FFFFFF"/>
                  </a:solidFill>
                  <a:latin typeface="Poppins Bold"/>
                  <a:ea typeface="Poppins Bold"/>
                  <a:cs typeface="Poppins Bold"/>
                  <a:sym typeface="Poppins Bold"/>
                </a:rPr>
                <a:t>KADERISASI</a:t>
              </a:r>
            </a:p>
          </p:txBody>
        </p:sp>
      </p:grpSp>
      <p:grpSp>
        <p:nvGrpSpPr>
          <p:cNvPr name="Group 13" id="13"/>
          <p:cNvGrpSpPr/>
          <p:nvPr/>
        </p:nvGrpSpPr>
        <p:grpSpPr>
          <a:xfrm rot="0">
            <a:off x="6339464" y="2528964"/>
            <a:ext cx="8018105" cy="2878255"/>
            <a:chOff x="0" y="0"/>
            <a:chExt cx="10690806" cy="3837673"/>
          </a:xfrm>
        </p:grpSpPr>
        <p:grpSp>
          <p:nvGrpSpPr>
            <p:cNvPr name="Group 14" id="14"/>
            <p:cNvGrpSpPr/>
            <p:nvPr/>
          </p:nvGrpSpPr>
          <p:grpSpPr>
            <a:xfrm rot="0">
              <a:off x="978690" y="744794"/>
              <a:ext cx="5688548" cy="3092879"/>
              <a:chOff x="0" y="0"/>
              <a:chExt cx="860482" cy="467847"/>
            </a:xfrm>
          </p:grpSpPr>
          <p:sp>
            <p:nvSpPr>
              <p:cNvPr name="Freeform 15" id="15"/>
              <p:cNvSpPr/>
              <p:nvPr/>
            </p:nvSpPr>
            <p:spPr>
              <a:xfrm flipH="false" flipV="false" rot="0">
                <a:off x="0" y="0"/>
                <a:ext cx="860482" cy="467847"/>
              </a:xfrm>
              <a:custGeom>
                <a:avLst/>
                <a:gdLst/>
                <a:ahLst/>
                <a:cxnLst/>
                <a:rect r="r" b="b" t="t" l="l"/>
                <a:pathLst>
                  <a:path h="467847" w="860482">
                    <a:moveTo>
                      <a:pt x="0" y="0"/>
                    </a:moveTo>
                    <a:lnTo>
                      <a:pt x="860482" y="0"/>
                    </a:lnTo>
                    <a:lnTo>
                      <a:pt x="860482" y="467847"/>
                    </a:lnTo>
                    <a:lnTo>
                      <a:pt x="0" y="46784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16" id="16"/>
              <p:cNvSpPr txBox="true"/>
              <p:nvPr/>
            </p:nvSpPr>
            <p:spPr>
              <a:xfrm>
                <a:off x="0" y="-66675"/>
                <a:ext cx="860482" cy="534522"/>
              </a:xfrm>
              <a:prstGeom prst="rect">
                <a:avLst/>
              </a:prstGeom>
            </p:spPr>
            <p:txBody>
              <a:bodyPr anchor="ctr" rtlCol="false" tIns="66337" lIns="66337" bIns="66337" rIns="66337"/>
              <a:lstStyle/>
              <a:p>
                <a:pPr algn="ctr" marL="0" indent="0" lvl="0">
                  <a:lnSpc>
                    <a:spcPts val="3359"/>
                  </a:lnSpc>
                  <a:spcBef>
                    <a:spcPct val="0"/>
                  </a:spcBef>
                </a:pPr>
              </a:p>
            </p:txBody>
          </p:sp>
        </p:grpSp>
        <p:sp>
          <p:nvSpPr>
            <p:cNvPr name="Freeform 17" id="17"/>
            <p:cNvSpPr/>
            <p:nvPr/>
          </p:nvSpPr>
          <p:spPr>
            <a:xfrm flipH="false" flipV="false" rot="0">
              <a:off x="0" y="0"/>
              <a:ext cx="10690806" cy="1545712"/>
            </a:xfrm>
            <a:custGeom>
              <a:avLst/>
              <a:gdLst/>
              <a:ahLst/>
              <a:cxnLst/>
              <a:rect r="r" b="b" t="t" l="l"/>
              <a:pathLst>
                <a:path h="1545712" w="10690806">
                  <a:moveTo>
                    <a:pt x="0" y="0"/>
                  </a:moveTo>
                  <a:lnTo>
                    <a:pt x="10690806" y="0"/>
                  </a:lnTo>
                  <a:lnTo>
                    <a:pt x="10690806" y="1545712"/>
                  </a:lnTo>
                  <a:lnTo>
                    <a:pt x="0" y="1545712"/>
                  </a:lnTo>
                  <a:lnTo>
                    <a:pt x="0" y="0"/>
                  </a:lnTo>
                  <a:close/>
                </a:path>
              </a:pathLst>
            </a:custGeom>
            <a:blipFill>
              <a:blip r:embed="rId7"/>
              <a:stretch>
                <a:fillRect l="0" t="0" r="0" b="0"/>
              </a:stretch>
            </a:blipFill>
            <a:ln cap="sq">
              <a:noFill/>
              <a:prstDash val="solid"/>
              <a:miter/>
            </a:ln>
          </p:spPr>
        </p:sp>
        <p:sp>
          <p:nvSpPr>
            <p:cNvPr name="TextBox 18" id="18"/>
            <p:cNvSpPr txBox="true"/>
            <p:nvPr/>
          </p:nvSpPr>
          <p:spPr>
            <a:xfrm rot="0">
              <a:off x="2172177" y="1658014"/>
              <a:ext cx="3301574" cy="1123563"/>
            </a:xfrm>
            <a:prstGeom prst="rect">
              <a:avLst/>
            </a:prstGeom>
          </p:spPr>
          <p:txBody>
            <a:bodyPr anchor="t" rtlCol="false" tIns="0" lIns="0" bIns="0" rIns="0">
              <a:spAutoFit/>
            </a:bodyPr>
            <a:lstStyle/>
            <a:p>
              <a:pPr algn="l">
                <a:lnSpc>
                  <a:spcPts val="6764"/>
                </a:lnSpc>
              </a:pPr>
              <a:r>
                <a:rPr lang="en-US" sz="4831" b="true">
                  <a:solidFill>
                    <a:srgbClr val="FFFFFF"/>
                  </a:solidFill>
                  <a:latin typeface="Poppins Bold"/>
                  <a:ea typeface="Poppins Bold"/>
                  <a:cs typeface="Poppins Bold"/>
                  <a:sym typeface="Poppins Bold"/>
                </a:rPr>
                <a:t>HUMAS</a:t>
              </a:r>
            </a:p>
          </p:txBody>
        </p:sp>
      </p:grpSp>
      <p:grpSp>
        <p:nvGrpSpPr>
          <p:cNvPr name="Group 19" id="19"/>
          <p:cNvGrpSpPr/>
          <p:nvPr/>
        </p:nvGrpSpPr>
        <p:grpSpPr>
          <a:xfrm rot="0">
            <a:off x="11186341" y="2528964"/>
            <a:ext cx="8018105" cy="2878255"/>
            <a:chOff x="0" y="0"/>
            <a:chExt cx="10690806" cy="3837673"/>
          </a:xfrm>
        </p:grpSpPr>
        <p:grpSp>
          <p:nvGrpSpPr>
            <p:cNvPr name="Group 20" id="20"/>
            <p:cNvGrpSpPr/>
            <p:nvPr/>
          </p:nvGrpSpPr>
          <p:grpSpPr>
            <a:xfrm rot="0">
              <a:off x="978690" y="744794"/>
              <a:ext cx="5688548" cy="3092879"/>
              <a:chOff x="0" y="0"/>
              <a:chExt cx="860482" cy="467847"/>
            </a:xfrm>
          </p:grpSpPr>
          <p:sp>
            <p:nvSpPr>
              <p:cNvPr name="Freeform 21" id="21"/>
              <p:cNvSpPr/>
              <p:nvPr/>
            </p:nvSpPr>
            <p:spPr>
              <a:xfrm flipH="false" flipV="false" rot="0">
                <a:off x="0" y="0"/>
                <a:ext cx="860482" cy="467847"/>
              </a:xfrm>
              <a:custGeom>
                <a:avLst/>
                <a:gdLst/>
                <a:ahLst/>
                <a:cxnLst/>
                <a:rect r="r" b="b" t="t" l="l"/>
                <a:pathLst>
                  <a:path h="467847" w="860482">
                    <a:moveTo>
                      <a:pt x="0" y="0"/>
                    </a:moveTo>
                    <a:lnTo>
                      <a:pt x="860482" y="0"/>
                    </a:lnTo>
                    <a:lnTo>
                      <a:pt x="860482" y="467847"/>
                    </a:lnTo>
                    <a:lnTo>
                      <a:pt x="0" y="46784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22" id="22"/>
              <p:cNvSpPr txBox="true"/>
              <p:nvPr/>
            </p:nvSpPr>
            <p:spPr>
              <a:xfrm>
                <a:off x="0" y="-66675"/>
                <a:ext cx="860482" cy="534522"/>
              </a:xfrm>
              <a:prstGeom prst="rect">
                <a:avLst/>
              </a:prstGeom>
            </p:spPr>
            <p:txBody>
              <a:bodyPr anchor="ctr" rtlCol="false" tIns="66337" lIns="66337" bIns="66337" rIns="66337"/>
              <a:lstStyle/>
              <a:p>
                <a:pPr algn="ctr" marL="0" indent="0" lvl="0">
                  <a:lnSpc>
                    <a:spcPts val="3359"/>
                  </a:lnSpc>
                  <a:spcBef>
                    <a:spcPct val="0"/>
                  </a:spcBef>
                </a:pPr>
              </a:p>
            </p:txBody>
          </p:sp>
        </p:grpSp>
        <p:sp>
          <p:nvSpPr>
            <p:cNvPr name="Freeform 23" id="23"/>
            <p:cNvSpPr/>
            <p:nvPr/>
          </p:nvSpPr>
          <p:spPr>
            <a:xfrm flipH="false" flipV="false" rot="0">
              <a:off x="0" y="0"/>
              <a:ext cx="10690806" cy="1545712"/>
            </a:xfrm>
            <a:custGeom>
              <a:avLst/>
              <a:gdLst/>
              <a:ahLst/>
              <a:cxnLst/>
              <a:rect r="r" b="b" t="t" l="l"/>
              <a:pathLst>
                <a:path h="1545712" w="10690806">
                  <a:moveTo>
                    <a:pt x="0" y="0"/>
                  </a:moveTo>
                  <a:lnTo>
                    <a:pt x="10690806" y="0"/>
                  </a:lnTo>
                  <a:lnTo>
                    <a:pt x="10690806" y="1545712"/>
                  </a:lnTo>
                  <a:lnTo>
                    <a:pt x="0" y="1545712"/>
                  </a:lnTo>
                  <a:lnTo>
                    <a:pt x="0" y="0"/>
                  </a:lnTo>
                  <a:close/>
                </a:path>
              </a:pathLst>
            </a:custGeom>
            <a:blipFill>
              <a:blip r:embed="rId7"/>
              <a:stretch>
                <a:fillRect l="0" t="0" r="0" b="0"/>
              </a:stretch>
            </a:blipFill>
            <a:ln cap="sq">
              <a:noFill/>
              <a:prstDash val="solid"/>
              <a:miter/>
            </a:ln>
          </p:spPr>
        </p:sp>
        <p:sp>
          <p:nvSpPr>
            <p:cNvPr name="TextBox 24" id="24"/>
            <p:cNvSpPr txBox="true"/>
            <p:nvPr/>
          </p:nvSpPr>
          <p:spPr>
            <a:xfrm rot="0">
              <a:off x="1839209" y="1658014"/>
              <a:ext cx="3967510" cy="1123563"/>
            </a:xfrm>
            <a:prstGeom prst="rect">
              <a:avLst/>
            </a:prstGeom>
          </p:spPr>
          <p:txBody>
            <a:bodyPr anchor="t" rtlCol="false" tIns="0" lIns="0" bIns="0" rIns="0">
              <a:spAutoFit/>
            </a:bodyPr>
            <a:lstStyle/>
            <a:p>
              <a:pPr algn="l">
                <a:lnSpc>
                  <a:spcPts val="6764"/>
                </a:lnSpc>
              </a:pPr>
              <a:r>
                <a:rPr lang="en-US" sz="4831" b="true">
                  <a:solidFill>
                    <a:srgbClr val="FFFFFF"/>
                  </a:solidFill>
                  <a:latin typeface="Poppins Bold"/>
                  <a:ea typeface="Poppins Bold"/>
                  <a:cs typeface="Poppins Bold"/>
                  <a:sym typeface="Poppins Bold"/>
                </a:rPr>
                <a:t>KOMINFO</a:t>
              </a:r>
            </a:p>
          </p:txBody>
        </p:sp>
      </p:grpSp>
      <p:grpSp>
        <p:nvGrpSpPr>
          <p:cNvPr name="Group 25" id="25"/>
          <p:cNvGrpSpPr/>
          <p:nvPr/>
        </p:nvGrpSpPr>
        <p:grpSpPr>
          <a:xfrm rot="0">
            <a:off x="4732629" y="6380438"/>
            <a:ext cx="4266411" cy="2319659"/>
            <a:chOff x="0" y="0"/>
            <a:chExt cx="860482" cy="467847"/>
          </a:xfrm>
        </p:grpSpPr>
        <p:sp>
          <p:nvSpPr>
            <p:cNvPr name="Freeform 26" id="26"/>
            <p:cNvSpPr/>
            <p:nvPr/>
          </p:nvSpPr>
          <p:spPr>
            <a:xfrm flipH="false" flipV="false" rot="0">
              <a:off x="0" y="0"/>
              <a:ext cx="860482" cy="467847"/>
            </a:xfrm>
            <a:custGeom>
              <a:avLst/>
              <a:gdLst/>
              <a:ahLst/>
              <a:cxnLst/>
              <a:rect r="r" b="b" t="t" l="l"/>
              <a:pathLst>
                <a:path h="467847" w="860482">
                  <a:moveTo>
                    <a:pt x="0" y="0"/>
                  </a:moveTo>
                  <a:lnTo>
                    <a:pt x="860482" y="0"/>
                  </a:lnTo>
                  <a:lnTo>
                    <a:pt x="860482" y="467847"/>
                  </a:lnTo>
                  <a:lnTo>
                    <a:pt x="0" y="46784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27" id="27"/>
            <p:cNvSpPr txBox="true"/>
            <p:nvPr/>
          </p:nvSpPr>
          <p:spPr>
            <a:xfrm>
              <a:off x="0" y="-66675"/>
              <a:ext cx="860482" cy="534522"/>
            </a:xfrm>
            <a:prstGeom prst="rect">
              <a:avLst/>
            </a:prstGeom>
          </p:spPr>
          <p:txBody>
            <a:bodyPr anchor="ctr" rtlCol="false" tIns="66337" lIns="66337" bIns="66337" rIns="66337"/>
            <a:lstStyle/>
            <a:p>
              <a:pPr algn="ctr" marL="0" indent="0" lvl="0">
                <a:lnSpc>
                  <a:spcPts val="3359"/>
                </a:lnSpc>
                <a:spcBef>
                  <a:spcPct val="0"/>
                </a:spcBef>
              </a:pPr>
            </a:p>
          </p:txBody>
        </p:sp>
      </p:grpSp>
      <p:sp>
        <p:nvSpPr>
          <p:cNvPr name="Freeform 28" id="28"/>
          <p:cNvSpPr/>
          <p:nvPr/>
        </p:nvSpPr>
        <p:spPr>
          <a:xfrm flipH="false" flipV="false" rot="0">
            <a:off x="3998611" y="5821842"/>
            <a:ext cx="8018105" cy="1159284"/>
          </a:xfrm>
          <a:custGeom>
            <a:avLst/>
            <a:gdLst/>
            <a:ahLst/>
            <a:cxnLst/>
            <a:rect r="r" b="b" t="t" l="l"/>
            <a:pathLst>
              <a:path h="1159284" w="8018105">
                <a:moveTo>
                  <a:pt x="0" y="0"/>
                </a:moveTo>
                <a:lnTo>
                  <a:pt x="8018105" y="0"/>
                </a:lnTo>
                <a:lnTo>
                  <a:pt x="8018105" y="1159284"/>
                </a:lnTo>
                <a:lnTo>
                  <a:pt x="0" y="1159284"/>
                </a:lnTo>
                <a:lnTo>
                  <a:pt x="0" y="0"/>
                </a:lnTo>
                <a:close/>
              </a:path>
            </a:pathLst>
          </a:custGeom>
          <a:blipFill>
            <a:blip r:embed="rId7"/>
            <a:stretch>
              <a:fillRect l="0" t="0" r="0" b="0"/>
            </a:stretch>
          </a:blipFill>
          <a:ln cap="sq">
            <a:noFill/>
            <a:prstDash val="solid"/>
            <a:miter/>
          </a:ln>
        </p:spPr>
      </p:sp>
      <p:sp>
        <p:nvSpPr>
          <p:cNvPr name="TextBox 29" id="29"/>
          <p:cNvSpPr txBox="true"/>
          <p:nvPr/>
        </p:nvSpPr>
        <p:spPr>
          <a:xfrm rot="0">
            <a:off x="5169805" y="6336897"/>
            <a:ext cx="3392059" cy="2363199"/>
          </a:xfrm>
          <a:prstGeom prst="rect">
            <a:avLst/>
          </a:prstGeom>
        </p:spPr>
        <p:txBody>
          <a:bodyPr anchor="t" rtlCol="false" tIns="0" lIns="0" bIns="0" rIns="0">
            <a:spAutoFit/>
          </a:bodyPr>
          <a:lstStyle/>
          <a:p>
            <a:pPr algn="ctr">
              <a:lnSpc>
                <a:spcPts val="6185"/>
              </a:lnSpc>
            </a:pPr>
            <a:r>
              <a:rPr lang="en-US" sz="4418" b="true">
                <a:solidFill>
                  <a:srgbClr val="FFFFFF"/>
                </a:solidFill>
                <a:latin typeface="Poppins Bold"/>
                <a:ea typeface="Poppins Bold"/>
                <a:cs typeface="Poppins Bold"/>
                <a:sym typeface="Poppins Bold"/>
              </a:rPr>
              <a:t>AGAMA</a:t>
            </a:r>
          </a:p>
          <a:p>
            <a:pPr algn="ctr">
              <a:lnSpc>
                <a:spcPts val="6185"/>
              </a:lnSpc>
            </a:pPr>
            <a:r>
              <a:rPr lang="en-US" sz="4418" b="true">
                <a:solidFill>
                  <a:srgbClr val="FFFFFF"/>
                </a:solidFill>
                <a:latin typeface="Poppins Bold"/>
                <a:ea typeface="Poppins Bold"/>
                <a:cs typeface="Poppins Bold"/>
                <a:sym typeface="Poppins Bold"/>
              </a:rPr>
              <a:t>&amp;</a:t>
            </a:r>
          </a:p>
          <a:p>
            <a:pPr algn="ctr">
              <a:lnSpc>
                <a:spcPts val="6185"/>
              </a:lnSpc>
            </a:pPr>
            <a:r>
              <a:rPr lang="en-US" sz="4418" b="true">
                <a:solidFill>
                  <a:srgbClr val="FFFFFF"/>
                </a:solidFill>
                <a:latin typeface="Poppins Bold"/>
                <a:ea typeface="Poppins Bold"/>
                <a:cs typeface="Poppins Bold"/>
                <a:sym typeface="Poppins Bold"/>
              </a:rPr>
              <a:t>SOSIAL</a:t>
            </a:r>
          </a:p>
        </p:txBody>
      </p:sp>
      <p:grpSp>
        <p:nvGrpSpPr>
          <p:cNvPr name="Group 30" id="30"/>
          <p:cNvGrpSpPr/>
          <p:nvPr/>
        </p:nvGrpSpPr>
        <p:grpSpPr>
          <a:xfrm rot="0">
            <a:off x="9698807" y="6380438"/>
            <a:ext cx="4266411" cy="2319659"/>
            <a:chOff x="0" y="0"/>
            <a:chExt cx="860482" cy="467847"/>
          </a:xfrm>
        </p:grpSpPr>
        <p:sp>
          <p:nvSpPr>
            <p:cNvPr name="Freeform 31" id="31"/>
            <p:cNvSpPr/>
            <p:nvPr/>
          </p:nvSpPr>
          <p:spPr>
            <a:xfrm flipH="false" flipV="false" rot="0">
              <a:off x="0" y="0"/>
              <a:ext cx="860482" cy="467847"/>
            </a:xfrm>
            <a:custGeom>
              <a:avLst/>
              <a:gdLst/>
              <a:ahLst/>
              <a:cxnLst/>
              <a:rect r="r" b="b" t="t" l="l"/>
              <a:pathLst>
                <a:path h="467847" w="860482">
                  <a:moveTo>
                    <a:pt x="0" y="0"/>
                  </a:moveTo>
                  <a:lnTo>
                    <a:pt x="860482" y="0"/>
                  </a:lnTo>
                  <a:lnTo>
                    <a:pt x="860482" y="467847"/>
                  </a:lnTo>
                  <a:lnTo>
                    <a:pt x="0" y="467847"/>
                  </a:lnTo>
                  <a:close/>
                </a:path>
              </a:pathLst>
            </a:custGeom>
            <a:gradFill rotWithShape="true">
              <a:gsLst>
                <a:gs pos="0">
                  <a:srgbClr val="5347D9">
                    <a:alpha val="100000"/>
                  </a:srgbClr>
                </a:gs>
                <a:gs pos="100000">
                  <a:srgbClr val="5347D9">
                    <a:alpha val="48500"/>
                  </a:srgbClr>
                </a:gs>
              </a:gsLst>
              <a:lin ang="2700000"/>
            </a:gradFill>
            <a:ln w="38100" cap="sq">
              <a:gradFill>
                <a:gsLst>
                  <a:gs pos="0">
                    <a:srgbClr val="5347D9">
                      <a:alpha val="0"/>
                    </a:srgbClr>
                  </a:gs>
                  <a:gs pos="100000">
                    <a:srgbClr val="5347D9">
                      <a:alpha val="100000"/>
                    </a:srgbClr>
                  </a:gs>
                </a:gsLst>
                <a:lin ang="2700000"/>
              </a:gradFill>
              <a:prstDash val="solid"/>
              <a:miter/>
            </a:ln>
          </p:spPr>
        </p:sp>
        <p:sp>
          <p:nvSpPr>
            <p:cNvPr name="TextBox 32" id="32"/>
            <p:cNvSpPr txBox="true"/>
            <p:nvPr/>
          </p:nvSpPr>
          <p:spPr>
            <a:xfrm>
              <a:off x="0" y="-66675"/>
              <a:ext cx="860482" cy="534522"/>
            </a:xfrm>
            <a:prstGeom prst="rect">
              <a:avLst/>
            </a:prstGeom>
          </p:spPr>
          <p:txBody>
            <a:bodyPr anchor="ctr" rtlCol="false" tIns="66337" lIns="66337" bIns="66337" rIns="66337"/>
            <a:lstStyle/>
            <a:p>
              <a:pPr algn="ctr" marL="0" indent="0" lvl="0">
                <a:lnSpc>
                  <a:spcPts val="3359"/>
                </a:lnSpc>
                <a:spcBef>
                  <a:spcPct val="0"/>
                </a:spcBef>
              </a:pPr>
            </a:p>
          </p:txBody>
        </p:sp>
      </p:grpSp>
      <p:sp>
        <p:nvSpPr>
          <p:cNvPr name="Freeform 33" id="33"/>
          <p:cNvSpPr/>
          <p:nvPr/>
        </p:nvSpPr>
        <p:spPr>
          <a:xfrm flipH="false" flipV="false" rot="0">
            <a:off x="8964789" y="5821842"/>
            <a:ext cx="8018105" cy="1159284"/>
          </a:xfrm>
          <a:custGeom>
            <a:avLst/>
            <a:gdLst/>
            <a:ahLst/>
            <a:cxnLst/>
            <a:rect r="r" b="b" t="t" l="l"/>
            <a:pathLst>
              <a:path h="1159284" w="8018105">
                <a:moveTo>
                  <a:pt x="0" y="0"/>
                </a:moveTo>
                <a:lnTo>
                  <a:pt x="8018105" y="0"/>
                </a:lnTo>
                <a:lnTo>
                  <a:pt x="8018105" y="1159284"/>
                </a:lnTo>
                <a:lnTo>
                  <a:pt x="0" y="1159284"/>
                </a:lnTo>
                <a:lnTo>
                  <a:pt x="0" y="0"/>
                </a:lnTo>
                <a:close/>
              </a:path>
            </a:pathLst>
          </a:custGeom>
          <a:blipFill>
            <a:blip r:embed="rId7"/>
            <a:stretch>
              <a:fillRect l="0" t="0" r="0" b="0"/>
            </a:stretch>
          </a:blipFill>
          <a:ln cap="sq">
            <a:noFill/>
            <a:prstDash val="solid"/>
            <a:miter/>
          </a:ln>
        </p:spPr>
      </p:sp>
      <p:sp>
        <p:nvSpPr>
          <p:cNvPr name="TextBox 34" id="34"/>
          <p:cNvSpPr txBox="true"/>
          <p:nvPr/>
        </p:nvSpPr>
        <p:spPr>
          <a:xfrm rot="0">
            <a:off x="10135983" y="6336897"/>
            <a:ext cx="3392059" cy="2363199"/>
          </a:xfrm>
          <a:prstGeom prst="rect">
            <a:avLst/>
          </a:prstGeom>
        </p:spPr>
        <p:txBody>
          <a:bodyPr anchor="t" rtlCol="false" tIns="0" lIns="0" bIns="0" rIns="0">
            <a:spAutoFit/>
          </a:bodyPr>
          <a:lstStyle/>
          <a:p>
            <a:pPr algn="ctr">
              <a:lnSpc>
                <a:spcPts val="6185"/>
              </a:lnSpc>
            </a:pPr>
            <a:r>
              <a:rPr lang="en-US" sz="4418" b="true">
                <a:solidFill>
                  <a:srgbClr val="FFFFFF"/>
                </a:solidFill>
                <a:latin typeface="Poppins Bold"/>
                <a:ea typeface="Poppins Bold"/>
                <a:cs typeface="Poppins Bold"/>
                <a:sym typeface="Poppins Bold"/>
              </a:rPr>
              <a:t>MINAT</a:t>
            </a:r>
          </a:p>
          <a:p>
            <a:pPr algn="ctr">
              <a:lnSpc>
                <a:spcPts val="6185"/>
              </a:lnSpc>
            </a:pPr>
            <a:r>
              <a:rPr lang="en-US" sz="4418" b="true">
                <a:solidFill>
                  <a:srgbClr val="FFFFFF"/>
                </a:solidFill>
                <a:latin typeface="Poppins Bold"/>
                <a:ea typeface="Poppins Bold"/>
                <a:cs typeface="Poppins Bold"/>
                <a:sym typeface="Poppins Bold"/>
              </a:rPr>
              <a:t>&amp;</a:t>
            </a:r>
          </a:p>
          <a:p>
            <a:pPr algn="ctr">
              <a:lnSpc>
                <a:spcPts val="6185"/>
              </a:lnSpc>
            </a:pPr>
            <a:r>
              <a:rPr lang="en-US" sz="4418" b="true">
                <a:solidFill>
                  <a:srgbClr val="FFFFFF"/>
                </a:solidFill>
                <a:latin typeface="Poppins Bold"/>
                <a:ea typeface="Poppins Bold"/>
                <a:cs typeface="Poppins Bold"/>
                <a:sym typeface="Poppins Bold"/>
              </a:rPr>
              <a:t>BAKAT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true" flipV="true" rot="1856079">
            <a:off x="-2705947" y="6328428"/>
            <a:ext cx="13088135" cy="5644258"/>
          </a:xfrm>
          <a:custGeom>
            <a:avLst/>
            <a:gdLst/>
            <a:ahLst/>
            <a:cxnLst/>
            <a:rect r="r" b="b" t="t" l="l"/>
            <a:pathLst>
              <a:path h="5644258" w="13088135">
                <a:moveTo>
                  <a:pt x="13088135" y="5644259"/>
                </a:moveTo>
                <a:lnTo>
                  <a:pt x="0" y="5644259"/>
                </a:lnTo>
                <a:lnTo>
                  <a:pt x="0" y="0"/>
                </a:lnTo>
                <a:lnTo>
                  <a:pt x="13088135" y="0"/>
                </a:lnTo>
                <a:lnTo>
                  <a:pt x="13088135" y="5644259"/>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9144000" y="259309"/>
            <a:ext cx="9269153" cy="10287000"/>
            <a:chOff x="0" y="0"/>
            <a:chExt cx="12358871" cy="13716000"/>
          </a:xfrm>
        </p:grpSpPr>
        <p:pic>
          <p:nvPicPr>
            <p:cNvPr name="Picture 4" id="4"/>
            <p:cNvPicPr>
              <a:picLocks noChangeAspect="true"/>
            </p:cNvPicPr>
            <p:nvPr/>
          </p:nvPicPr>
          <p:blipFill>
            <a:blip r:embed="rId4"/>
            <a:srcRect l="4947" t="0" r="4947" b="0"/>
            <a:stretch>
              <a:fillRect/>
            </a:stretch>
          </p:blipFill>
          <p:spPr>
            <a:xfrm flipH="false" flipV="false">
              <a:off x="0" y="0"/>
              <a:ext cx="12358871" cy="13716000"/>
            </a:xfrm>
            <a:prstGeom prst="rect">
              <a:avLst/>
            </a:prstGeom>
          </p:spPr>
        </p:pic>
      </p:grpSp>
      <p:grpSp>
        <p:nvGrpSpPr>
          <p:cNvPr name="Group 5" id="5"/>
          <p:cNvGrpSpPr/>
          <p:nvPr/>
        </p:nvGrpSpPr>
        <p:grpSpPr>
          <a:xfrm rot="5400000">
            <a:off x="8365778" y="192439"/>
            <a:ext cx="10413864" cy="9430580"/>
            <a:chOff x="0" y="0"/>
            <a:chExt cx="5321757" cy="4819273"/>
          </a:xfrm>
        </p:grpSpPr>
        <p:sp>
          <p:nvSpPr>
            <p:cNvPr name="Freeform 6" id="6"/>
            <p:cNvSpPr/>
            <p:nvPr/>
          </p:nvSpPr>
          <p:spPr>
            <a:xfrm flipH="false" flipV="false" rot="0">
              <a:off x="0" y="0"/>
              <a:ext cx="5321757" cy="4819273"/>
            </a:xfrm>
            <a:custGeom>
              <a:avLst/>
              <a:gdLst/>
              <a:ahLst/>
              <a:cxnLst/>
              <a:rect r="r" b="b" t="t" l="l"/>
              <a:pathLst>
                <a:path h="4819273" w="5321757">
                  <a:moveTo>
                    <a:pt x="0" y="0"/>
                  </a:moveTo>
                  <a:lnTo>
                    <a:pt x="5321757" y="0"/>
                  </a:lnTo>
                  <a:lnTo>
                    <a:pt x="5321757" y="4819273"/>
                  </a:lnTo>
                  <a:lnTo>
                    <a:pt x="0" y="4819273"/>
                  </a:lnTo>
                  <a:close/>
                </a:path>
              </a:pathLst>
            </a:custGeom>
            <a:gradFill rotWithShape="true">
              <a:gsLst>
                <a:gs pos="0">
                  <a:srgbClr val="151037">
                    <a:alpha val="51000"/>
                  </a:srgbClr>
                </a:gs>
                <a:gs pos="100000">
                  <a:srgbClr val="151037">
                    <a:alpha val="100000"/>
                  </a:srgbClr>
                </a:gs>
              </a:gsLst>
              <a:lin ang="5400000"/>
            </a:gradFill>
          </p:spPr>
        </p:sp>
        <p:sp>
          <p:nvSpPr>
            <p:cNvPr name="TextBox 7" id="7"/>
            <p:cNvSpPr txBox="true"/>
            <p:nvPr/>
          </p:nvSpPr>
          <p:spPr>
            <a:xfrm>
              <a:off x="0" y="-66675"/>
              <a:ext cx="5321757" cy="4885948"/>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true" rot="0">
            <a:off x="16350267" y="1028700"/>
            <a:ext cx="909033" cy="909033"/>
          </a:xfrm>
          <a:custGeom>
            <a:avLst/>
            <a:gdLst/>
            <a:ahLst/>
            <a:cxnLst/>
            <a:rect r="r" b="b" t="t" l="l"/>
            <a:pathLst>
              <a:path h="909033" w="909033">
                <a:moveTo>
                  <a:pt x="0" y="909033"/>
                </a:moveTo>
                <a:lnTo>
                  <a:pt x="909033" y="909033"/>
                </a:lnTo>
                <a:lnTo>
                  <a:pt x="909033" y="0"/>
                </a:lnTo>
                <a:lnTo>
                  <a:pt x="0" y="0"/>
                </a:lnTo>
                <a:lnTo>
                  <a:pt x="0" y="909033"/>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28700" y="2624418"/>
            <a:ext cx="14275637" cy="5556782"/>
          </a:xfrm>
          <a:custGeom>
            <a:avLst/>
            <a:gdLst/>
            <a:ahLst/>
            <a:cxnLst/>
            <a:rect r="r" b="b" t="t" l="l"/>
            <a:pathLst>
              <a:path h="5556782" w="14275637">
                <a:moveTo>
                  <a:pt x="0" y="0"/>
                </a:moveTo>
                <a:lnTo>
                  <a:pt x="14275637" y="0"/>
                </a:lnTo>
                <a:lnTo>
                  <a:pt x="14275637" y="5556782"/>
                </a:lnTo>
                <a:lnTo>
                  <a:pt x="0" y="5556782"/>
                </a:lnTo>
                <a:lnTo>
                  <a:pt x="0" y="0"/>
                </a:lnTo>
                <a:close/>
              </a:path>
            </a:pathLst>
          </a:custGeom>
          <a:blipFill>
            <a:blip r:embed="rId7"/>
            <a:stretch>
              <a:fillRect l="0" t="0" r="0" b="0"/>
            </a:stretch>
          </a:blipFill>
        </p:spPr>
      </p:sp>
      <p:sp>
        <p:nvSpPr>
          <p:cNvPr name="TextBox 10" id="10"/>
          <p:cNvSpPr txBox="true"/>
          <p:nvPr/>
        </p:nvSpPr>
        <p:spPr>
          <a:xfrm rot="0">
            <a:off x="567808" y="882433"/>
            <a:ext cx="15974933" cy="1560917"/>
          </a:xfrm>
          <a:prstGeom prst="rect">
            <a:avLst/>
          </a:prstGeom>
        </p:spPr>
        <p:txBody>
          <a:bodyPr anchor="t" rtlCol="false" tIns="0" lIns="0" bIns="0" rIns="0">
            <a:spAutoFit/>
          </a:bodyPr>
          <a:lstStyle/>
          <a:p>
            <a:pPr algn="ctr">
              <a:lnSpc>
                <a:spcPts val="5767"/>
              </a:lnSpc>
            </a:pPr>
            <a:r>
              <a:rPr lang="en-US" sz="5710" b="true">
                <a:solidFill>
                  <a:srgbClr val="FFFFFF"/>
                </a:solidFill>
                <a:latin typeface="Poppins Bold"/>
                <a:ea typeface="Poppins Bold"/>
                <a:cs typeface="Poppins Bold"/>
                <a:sym typeface="Poppins Bold"/>
              </a:rPr>
              <a:t>PRESTASI-PRESTASI YANG PERNAH DI RAIH HIMTI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false" rot="0">
            <a:off x="0" y="-1376331"/>
            <a:ext cx="18288000" cy="13753318"/>
          </a:xfrm>
          <a:custGeom>
            <a:avLst/>
            <a:gdLst/>
            <a:ahLst/>
            <a:cxnLst/>
            <a:rect r="r" b="b" t="t" l="l"/>
            <a:pathLst>
              <a:path h="13753318" w="18288000">
                <a:moveTo>
                  <a:pt x="0" y="0"/>
                </a:moveTo>
                <a:lnTo>
                  <a:pt x="18288000" y="0"/>
                </a:lnTo>
                <a:lnTo>
                  <a:pt x="18288000" y="13753318"/>
                </a:lnTo>
                <a:lnTo>
                  <a:pt x="0" y="13753318"/>
                </a:lnTo>
                <a:lnTo>
                  <a:pt x="0" y="0"/>
                </a:lnTo>
                <a:close/>
              </a:path>
            </a:pathLst>
          </a:custGeom>
          <a:blipFill>
            <a:blip r:embed="rId2">
              <a:alphaModFix amt="37000"/>
            </a:blip>
            <a:stretch>
              <a:fillRect l="0" t="-16670" r="0" b="-16670"/>
            </a:stretch>
          </a:blipFill>
        </p:spPr>
      </p:sp>
      <p:sp>
        <p:nvSpPr>
          <p:cNvPr name="TextBox 3" id="3"/>
          <p:cNvSpPr txBox="true"/>
          <p:nvPr/>
        </p:nvSpPr>
        <p:spPr>
          <a:xfrm rot="0">
            <a:off x="1984196" y="1118919"/>
            <a:ext cx="15484156" cy="708774"/>
          </a:xfrm>
          <a:prstGeom prst="rect">
            <a:avLst/>
          </a:prstGeom>
        </p:spPr>
        <p:txBody>
          <a:bodyPr anchor="t" rtlCol="false" tIns="0" lIns="0" bIns="0" rIns="0">
            <a:spAutoFit/>
          </a:bodyPr>
          <a:lstStyle/>
          <a:p>
            <a:pPr algn="ctr">
              <a:lnSpc>
                <a:spcPts val="5023"/>
              </a:lnSpc>
            </a:pPr>
            <a:r>
              <a:rPr lang="en-US" sz="4973" b="true">
                <a:solidFill>
                  <a:srgbClr val="FFFFFF"/>
                </a:solidFill>
                <a:latin typeface="Poppins Bold"/>
                <a:ea typeface="Poppins Bold"/>
                <a:cs typeface="Poppins Bold"/>
                <a:sym typeface="Poppins Bold"/>
              </a:rPr>
              <a:t>KEGIATAN BESAR YANG PERNAH HIMTI ADAKAN</a:t>
            </a:r>
          </a:p>
        </p:txBody>
      </p:sp>
      <p:sp>
        <p:nvSpPr>
          <p:cNvPr name="Freeform 4" id="4"/>
          <p:cNvSpPr/>
          <p:nvPr/>
        </p:nvSpPr>
        <p:spPr>
          <a:xfrm flipH="true" flipV="true" rot="0">
            <a:off x="1028700" y="1028700"/>
            <a:ext cx="1003121" cy="1003121"/>
          </a:xfrm>
          <a:custGeom>
            <a:avLst/>
            <a:gdLst/>
            <a:ahLst/>
            <a:cxnLst/>
            <a:rect r="r" b="b" t="t" l="l"/>
            <a:pathLst>
              <a:path h="1003121" w="1003121">
                <a:moveTo>
                  <a:pt x="1003121" y="1003121"/>
                </a:moveTo>
                <a:lnTo>
                  <a:pt x="0" y="1003121"/>
                </a:lnTo>
                <a:lnTo>
                  <a:pt x="0" y="0"/>
                </a:lnTo>
                <a:lnTo>
                  <a:pt x="1003121" y="0"/>
                </a:lnTo>
                <a:lnTo>
                  <a:pt x="1003121" y="100312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7952" y="3795766"/>
            <a:ext cx="18288000" cy="6491234"/>
            <a:chOff x="0" y="0"/>
            <a:chExt cx="9345646" cy="3317190"/>
          </a:xfrm>
        </p:grpSpPr>
        <p:sp>
          <p:nvSpPr>
            <p:cNvPr name="Freeform 6" id="6"/>
            <p:cNvSpPr/>
            <p:nvPr/>
          </p:nvSpPr>
          <p:spPr>
            <a:xfrm flipH="false" flipV="false" rot="0">
              <a:off x="0" y="0"/>
              <a:ext cx="9345647" cy="3317191"/>
            </a:xfrm>
            <a:custGeom>
              <a:avLst/>
              <a:gdLst/>
              <a:ahLst/>
              <a:cxnLst/>
              <a:rect r="r" b="b" t="t" l="l"/>
              <a:pathLst>
                <a:path h="3317191" w="9345647">
                  <a:moveTo>
                    <a:pt x="0" y="0"/>
                  </a:moveTo>
                  <a:lnTo>
                    <a:pt x="9345647" y="0"/>
                  </a:lnTo>
                  <a:lnTo>
                    <a:pt x="9345647" y="3317191"/>
                  </a:lnTo>
                  <a:lnTo>
                    <a:pt x="0" y="3317191"/>
                  </a:lnTo>
                  <a:close/>
                </a:path>
              </a:pathLst>
            </a:custGeom>
            <a:gradFill rotWithShape="true">
              <a:gsLst>
                <a:gs pos="0">
                  <a:srgbClr val="5347D9">
                    <a:alpha val="0"/>
                  </a:srgbClr>
                </a:gs>
                <a:gs pos="100000">
                  <a:srgbClr val="5347D9">
                    <a:alpha val="59500"/>
                  </a:srgbClr>
                </a:gs>
              </a:gsLst>
              <a:lin ang="5400000"/>
            </a:gradFill>
          </p:spPr>
        </p:sp>
        <p:sp>
          <p:nvSpPr>
            <p:cNvPr name="TextBox 7" id="7"/>
            <p:cNvSpPr txBox="true"/>
            <p:nvPr/>
          </p:nvSpPr>
          <p:spPr>
            <a:xfrm>
              <a:off x="0" y="-66675"/>
              <a:ext cx="9345646" cy="3383865"/>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true" rot="0">
            <a:off x="-171782" y="4627417"/>
            <a:ext cx="18740416" cy="8081804"/>
          </a:xfrm>
          <a:custGeom>
            <a:avLst/>
            <a:gdLst/>
            <a:ahLst/>
            <a:cxnLst/>
            <a:rect r="r" b="b" t="t" l="l"/>
            <a:pathLst>
              <a:path h="8081804" w="18740416">
                <a:moveTo>
                  <a:pt x="0" y="8081804"/>
                </a:moveTo>
                <a:lnTo>
                  <a:pt x="18740416" y="8081804"/>
                </a:lnTo>
                <a:lnTo>
                  <a:pt x="18740416" y="0"/>
                </a:lnTo>
                <a:lnTo>
                  <a:pt x="0" y="0"/>
                </a:lnTo>
                <a:lnTo>
                  <a:pt x="0" y="8081804"/>
                </a:lnTo>
                <a:close/>
              </a:path>
            </a:pathLst>
          </a:custGeom>
          <a:blipFill>
            <a:blip r:embed="rId5">
              <a:alphaModFix amt="53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false" flipV="false" rot="0">
            <a:off x="2083932" y="3361858"/>
            <a:ext cx="14228988" cy="2531118"/>
          </a:xfrm>
          <a:custGeom>
            <a:avLst/>
            <a:gdLst/>
            <a:ahLst/>
            <a:cxnLst/>
            <a:rect r="r" b="b" t="t" l="l"/>
            <a:pathLst>
              <a:path h="2531118" w="14228988">
                <a:moveTo>
                  <a:pt x="0" y="0"/>
                </a:moveTo>
                <a:lnTo>
                  <a:pt x="14228988" y="0"/>
                </a:lnTo>
                <a:lnTo>
                  <a:pt x="14228988" y="2531118"/>
                </a:lnTo>
                <a:lnTo>
                  <a:pt x="0" y="2531118"/>
                </a:lnTo>
                <a:lnTo>
                  <a:pt x="0" y="0"/>
                </a:lnTo>
                <a:close/>
              </a:path>
            </a:pathLst>
          </a:custGeom>
          <a:blipFill>
            <a:blip r:embed="rId7"/>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true" rot="2700000">
            <a:off x="3420862" y="1022837"/>
            <a:ext cx="12837504" cy="5536174"/>
          </a:xfrm>
          <a:custGeom>
            <a:avLst/>
            <a:gdLst/>
            <a:ahLst/>
            <a:cxnLst/>
            <a:rect r="r" b="b" t="t" l="l"/>
            <a:pathLst>
              <a:path h="5536174" w="12837504">
                <a:moveTo>
                  <a:pt x="0" y="5536174"/>
                </a:moveTo>
                <a:lnTo>
                  <a:pt x="12837504" y="5536174"/>
                </a:lnTo>
                <a:lnTo>
                  <a:pt x="12837504" y="0"/>
                </a:lnTo>
                <a:lnTo>
                  <a:pt x="0" y="0"/>
                </a:lnTo>
                <a:lnTo>
                  <a:pt x="0" y="5536174"/>
                </a:lnTo>
                <a:close/>
              </a:path>
            </a:pathLst>
          </a:custGeom>
          <a:blipFill>
            <a:blip r:embed="rId2">
              <a:alphaModFix amt="93000"/>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5400000">
            <a:off x="-3570667" y="3570667"/>
            <a:ext cx="10287000" cy="3145666"/>
            <a:chOff x="0" y="0"/>
            <a:chExt cx="5256926" cy="1607518"/>
          </a:xfrm>
        </p:grpSpPr>
        <p:sp>
          <p:nvSpPr>
            <p:cNvPr name="Freeform 4" id="4"/>
            <p:cNvSpPr/>
            <p:nvPr/>
          </p:nvSpPr>
          <p:spPr>
            <a:xfrm flipH="false" flipV="false" rot="0">
              <a:off x="0" y="0"/>
              <a:ext cx="5256926" cy="1607518"/>
            </a:xfrm>
            <a:custGeom>
              <a:avLst/>
              <a:gdLst/>
              <a:ahLst/>
              <a:cxnLst/>
              <a:rect r="r" b="b" t="t" l="l"/>
              <a:pathLst>
                <a:path h="1607518" w="5256926">
                  <a:moveTo>
                    <a:pt x="0" y="0"/>
                  </a:moveTo>
                  <a:lnTo>
                    <a:pt x="5256926" y="0"/>
                  </a:lnTo>
                  <a:lnTo>
                    <a:pt x="5256926" y="1607518"/>
                  </a:lnTo>
                  <a:lnTo>
                    <a:pt x="0" y="1607518"/>
                  </a:lnTo>
                  <a:close/>
                </a:path>
              </a:pathLst>
            </a:custGeom>
            <a:gradFill rotWithShape="true">
              <a:gsLst>
                <a:gs pos="0">
                  <a:srgbClr val="5347D9">
                    <a:alpha val="0"/>
                  </a:srgbClr>
                </a:gs>
                <a:gs pos="100000">
                  <a:srgbClr val="5347D9">
                    <a:alpha val="59500"/>
                  </a:srgbClr>
                </a:gs>
              </a:gsLst>
              <a:lin ang="5400000"/>
            </a:gradFill>
          </p:spPr>
        </p:sp>
        <p:sp>
          <p:nvSpPr>
            <p:cNvPr name="TextBox 5" id="5"/>
            <p:cNvSpPr txBox="true"/>
            <p:nvPr/>
          </p:nvSpPr>
          <p:spPr>
            <a:xfrm>
              <a:off x="0" y="-66675"/>
              <a:ext cx="5256926" cy="1674193"/>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3145666" y="432909"/>
            <a:ext cx="11942100" cy="961771"/>
          </a:xfrm>
          <a:prstGeom prst="rect">
            <a:avLst/>
          </a:prstGeom>
        </p:spPr>
        <p:txBody>
          <a:bodyPr anchor="t" rtlCol="false" tIns="0" lIns="0" bIns="0" rIns="0">
            <a:spAutoFit/>
          </a:bodyPr>
          <a:lstStyle/>
          <a:p>
            <a:pPr algn="l">
              <a:lnSpc>
                <a:spcPts val="6767"/>
              </a:lnSpc>
            </a:pPr>
            <a:r>
              <a:rPr lang="en-US" sz="6700" b="true">
                <a:solidFill>
                  <a:srgbClr val="FFFFFF"/>
                </a:solidFill>
                <a:latin typeface="Poppins Bold"/>
                <a:ea typeface="Poppins Bold"/>
                <a:cs typeface="Poppins Bold"/>
                <a:sym typeface="Poppins Bold"/>
              </a:rPr>
              <a:t>PRIODE KETUA UMUM HIMTI</a:t>
            </a:r>
          </a:p>
        </p:txBody>
      </p:sp>
      <p:sp>
        <p:nvSpPr>
          <p:cNvPr name="Freeform 7" id="7"/>
          <p:cNvSpPr/>
          <p:nvPr/>
        </p:nvSpPr>
        <p:spPr>
          <a:xfrm flipH="false" flipV="false" rot="0">
            <a:off x="12924119" y="1069837"/>
            <a:ext cx="4335181" cy="626795"/>
          </a:xfrm>
          <a:custGeom>
            <a:avLst/>
            <a:gdLst/>
            <a:ahLst/>
            <a:cxnLst/>
            <a:rect r="r" b="b" t="t" l="l"/>
            <a:pathLst>
              <a:path h="626795" w="4335181">
                <a:moveTo>
                  <a:pt x="0" y="0"/>
                </a:moveTo>
                <a:lnTo>
                  <a:pt x="4335181" y="0"/>
                </a:lnTo>
                <a:lnTo>
                  <a:pt x="4335181" y="626795"/>
                </a:lnTo>
                <a:lnTo>
                  <a:pt x="0" y="626795"/>
                </a:lnTo>
                <a:lnTo>
                  <a:pt x="0" y="0"/>
                </a:lnTo>
                <a:close/>
              </a:path>
            </a:pathLst>
          </a:custGeom>
          <a:blipFill>
            <a:blip r:embed="rId4"/>
            <a:stretch>
              <a:fillRect l="0" t="0" r="0" b="0"/>
            </a:stretch>
          </a:blipFill>
          <a:ln cap="sq">
            <a:noFill/>
            <a:prstDash val="solid"/>
            <a:miter/>
          </a:ln>
        </p:spPr>
      </p:sp>
      <p:sp>
        <p:nvSpPr>
          <p:cNvPr name="Freeform 8" id="8"/>
          <p:cNvSpPr/>
          <p:nvPr/>
        </p:nvSpPr>
        <p:spPr>
          <a:xfrm flipH="false" flipV="false" rot="0">
            <a:off x="760119" y="0"/>
            <a:ext cx="4335181" cy="626795"/>
          </a:xfrm>
          <a:custGeom>
            <a:avLst/>
            <a:gdLst/>
            <a:ahLst/>
            <a:cxnLst/>
            <a:rect r="r" b="b" t="t" l="l"/>
            <a:pathLst>
              <a:path h="626795" w="4335181">
                <a:moveTo>
                  <a:pt x="0" y="0"/>
                </a:moveTo>
                <a:lnTo>
                  <a:pt x="4335181" y="0"/>
                </a:lnTo>
                <a:lnTo>
                  <a:pt x="4335181" y="626795"/>
                </a:lnTo>
                <a:lnTo>
                  <a:pt x="0" y="626795"/>
                </a:lnTo>
                <a:lnTo>
                  <a:pt x="0" y="0"/>
                </a:lnTo>
                <a:close/>
              </a:path>
            </a:pathLst>
          </a:custGeom>
          <a:blipFill>
            <a:blip r:embed="rId5"/>
            <a:stretch>
              <a:fillRect l="0" t="0" r="0" b="0"/>
            </a:stretch>
          </a:blipFill>
        </p:spPr>
      </p:sp>
      <p:grpSp>
        <p:nvGrpSpPr>
          <p:cNvPr name="Group 9" id="9"/>
          <p:cNvGrpSpPr/>
          <p:nvPr/>
        </p:nvGrpSpPr>
        <p:grpSpPr>
          <a:xfrm rot="0">
            <a:off x="510663" y="1696632"/>
            <a:ext cx="4312559" cy="4188584"/>
            <a:chOff x="0" y="0"/>
            <a:chExt cx="5750078" cy="5584779"/>
          </a:xfrm>
        </p:grpSpPr>
        <p:grpSp>
          <p:nvGrpSpPr>
            <p:cNvPr name="Group 10" id="10"/>
            <p:cNvGrpSpPr/>
            <p:nvPr/>
          </p:nvGrpSpPr>
          <p:grpSpPr>
            <a:xfrm rot="0">
              <a:off x="200693" y="0"/>
              <a:ext cx="5348693" cy="5584779"/>
              <a:chOff x="0" y="0"/>
              <a:chExt cx="1220329" cy="1274193"/>
            </a:xfrm>
          </p:grpSpPr>
          <p:sp>
            <p:nvSpPr>
              <p:cNvPr name="Freeform 11" id="11"/>
              <p:cNvSpPr/>
              <p:nvPr/>
            </p:nvSpPr>
            <p:spPr>
              <a:xfrm flipH="false" flipV="false" rot="0">
                <a:off x="0" y="0"/>
                <a:ext cx="1220329" cy="1274193"/>
              </a:xfrm>
              <a:custGeom>
                <a:avLst/>
                <a:gdLst/>
                <a:ahLst/>
                <a:cxnLst/>
                <a:rect r="r" b="b" t="t" l="l"/>
                <a:pathLst>
                  <a:path h="1274193" w="1220329">
                    <a:moveTo>
                      <a:pt x="0" y="0"/>
                    </a:moveTo>
                    <a:lnTo>
                      <a:pt x="1220329" y="0"/>
                    </a:lnTo>
                    <a:lnTo>
                      <a:pt x="1220329" y="1274193"/>
                    </a:lnTo>
                    <a:lnTo>
                      <a:pt x="0" y="1274193"/>
                    </a:lnTo>
                    <a:close/>
                  </a:path>
                </a:pathLst>
              </a:custGeom>
              <a:gradFill rotWithShape="true">
                <a:gsLst>
                  <a:gs pos="0">
                    <a:srgbClr val="5347D9">
                      <a:alpha val="0"/>
                    </a:srgbClr>
                  </a:gs>
                  <a:gs pos="100000">
                    <a:srgbClr val="5347D9">
                      <a:alpha val="100000"/>
                    </a:srgbClr>
                  </a:gs>
                </a:gsLst>
                <a:path path="circle">
                  <a:fillToRect l="0" r="100000" t="0" b="100000"/>
                </a:path>
                <a:tileRect r="0" l="-100000" b="0" t="-100000"/>
              </a:gradFill>
              <a:ln w="38100" cap="sq">
                <a:gradFill>
                  <a:gsLst>
                    <a:gs pos="0">
                      <a:srgbClr val="5347D9">
                        <a:alpha val="0"/>
                      </a:srgbClr>
                    </a:gs>
                    <a:gs pos="100000">
                      <a:srgbClr val="5347D9">
                        <a:alpha val="100000"/>
                      </a:srgbClr>
                    </a:gs>
                  </a:gsLst>
                  <a:lin ang="2700000"/>
                </a:gradFill>
                <a:prstDash val="solid"/>
                <a:miter/>
              </a:ln>
            </p:spPr>
          </p:sp>
          <p:sp>
            <p:nvSpPr>
              <p:cNvPr name="TextBox 12" id="12"/>
              <p:cNvSpPr txBox="true"/>
              <p:nvPr/>
            </p:nvSpPr>
            <p:spPr>
              <a:xfrm>
                <a:off x="0" y="-66675"/>
                <a:ext cx="1220329" cy="1340868"/>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3" id="13"/>
            <p:cNvGrpSpPr/>
            <p:nvPr/>
          </p:nvGrpSpPr>
          <p:grpSpPr>
            <a:xfrm rot="0">
              <a:off x="1491792" y="152386"/>
              <a:ext cx="2766495" cy="3368564"/>
              <a:chOff x="0" y="0"/>
              <a:chExt cx="1466298" cy="1785407"/>
            </a:xfrm>
          </p:grpSpPr>
          <p:sp>
            <p:nvSpPr>
              <p:cNvPr name="Freeform 14" id="14"/>
              <p:cNvSpPr/>
              <p:nvPr/>
            </p:nvSpPr>
            <p:spPr>
              <a:xfrm flipH="false" flipV="false" rot="0">
                <a:off x="0" y="0"/>
                <a:ext cx="1466298" cy="1785407"/>
              </a:xfrm>
              <a:custGeom>
                <a:avLst/>
                <a:gdLst/>
                <a:ahLst/>
                <a:cxnLst/>
                <a:rect r="r" b="b" t="t" l="l"/>
                <a:pathLst>
                  <a:path h="1785407" w="1466298">
                    <a:moveTo>
                      <a:pt x="0" y="0"/>
                    </a:moveTo>
                    <a:lnTo>
                      <a:pt x="1466298" y="0"/>
                    </a:lnTo>
                    <a:lnTo>
                      <a:pt x="1466298" y="1785407"/>
                    </a:lnTo>
                    <a:lnTo>
                      <a:pt x="0" y="1785407"/>
                    </a:lnTo>
                    <a:close/>
                  </a:path>
                </a:pathLst>
              </a:custGeom>
              <a:blipFill>
                <a:blip r:embed="rId6"/>
                <a:stretch>
                  <a:fillRect l="-3496" t="0" r="-3496" b="0"/>
                </a:stretch>
              </a:blipFill>
            </p:spPr>
          </p:sp>
        </p:grpSp>
        <p:sp>
          <p:nvSpPr>
            <p:cNvPr name="TextBox 15" id="15"/>
            <p:cNvSpPr txBox="true"/>
            <p:nvPr/>
          </p:nvSpPr>
          <p:spPr>
            <a:xfrm rot="0">
              <a:off x="0" y="4205612"/>
              <a:ext cx="5750078" cy="834164"/>
            </a:xfrm>
            <a:prstGeom prst="rect">
              <a:avLst/>
            </a:prstGeom>
          </p:spPr>
          <p:txBody>
            <a:bodyPr anchor="t" rtlCol="false" tIns="0" lIns="0" bIns="0" rIns="0">
              <a:spAutoFit/>
            </a:bodyPr>
            <a:lstStyle/>
            <a:p>
              <a:pPr algn="ctr">
                <a:lnSpc>
                  <a:spcPts val="2545"/>
                </a:lnSpc>
              </a:pPr>
              <a:r>
                <a:rPr lang="en-US" sz="1818">
                  <a:solidFill>
                    <a:srgbClr val="FFFFFF"/>
                  </a:solidFill>
                  <a:latin typeface="Montserrat"/>
                  <a:ea typeface="Montserrat"/>
                  <a:cs typeface="Montserrat"/>
                  <a:sym typeface="Montserrat"/>
                </a:rPr>
                <a:t>PRIODE I tahun (2013-2014)</a:t>
              </a:r>
            </a:p>
            <a:p>
              <a:pPr algn="ctr">
                <a:lnSpc>
                  <a:spcPts val="2545"/>
                </a:lnSpc>
              </a:pPr>
              <a:r>
                <a:rPr lang="en-US" sz="1818">
                  <a:solidFill>
                    <a:srgbClr val="FFFFFF"/>
                  </a:solidFill>
                  <a:latin typeface="Montserrat"/>
                  <a:ea typeface="Montserrat"/>
                  <a:cs typeface="Montserrat"/>
                  <a:sym typeface="Montserrat"/>
                </a:rPr>
                <a:t>dan sempat vakum sampai (2019)</a:t>
              </a:r>
            </a:p>
          </p:txBody>
        </p:sp>
        <p:sp>
          <p:nvSpPr>
            <p:cNvPr name="TextBox 16" id="16"/>
            <p:cNvSpPr txBox="true"/>
            <p:nvPr/>
          </p:nvSpPr>
          <p:spPr>
            <a:xfrm rot="0">
              <a:off x="928316" y="3601613"/>
              <a:ext cx="3893447" cy="499159"/>
            </a:xfrm>
            <a:prstGeom prst="rect">
              <a:avLst/>
            </a:prstGeom>
          </p:spPr>
          <p:txBody>
            <a:bodyPr anchor="t" rtlCol="false" tIns="0" lIns="0" bIns="0" rIns="0">
              <a:spAutoFit/>
            </a:bodyPr>
            <a:lstStyle/>
            <a:p>
              <a:pPr algn="l">
                <a:lnSpc>
                  <a:spcPts val="3030"/>
                </a:lnSpc>
              </a:pPr>
              <a:r>
                <a:rPr lang="en-US" sz="2164" b="true">
                  <a:solidFill>
                    <a:srgbClr val="FFFFFF"/>
                  </a:solidFill>
                  <a:latin typeface="Poppins Bold"/>
                  <a:ea typeface="Poppins Bold"/>
                  <a:cs typeface="Poppins Bold"/>
                  <a:sym typeface="Poppins Bold"/>
                </a:rPr>
                <a:t>RAHMAT IRAWAN ST</a:t>
              </a:r>
            </a:p>
          </p:txBody>
        </p:sp>
      </p:grpSp>
      <p:grpSp>
        <p:nvGrpSpPr>
          <p:cNvPr name="Group 17" id="17"/>
          <p:cNvGrpSpPr/>
          <p:nvPr/>
        </p:nvGrpSpPr>
        <p:grpSpPr>
          <a:xfrm rot="0">
            <a:off x="9294519" y="1696632"/>
            <a:ext cx="4011520" cy="4200030"/>
            <a:chOff x="0" y="0"/>
            <a:chExt cx="1220329" cy="1277675"/>
          </a:xfrm>
        </p:grpSpPr>
        <p:sp>
          <p:nvSpPr>
            <p:cNvPr name="Freeform 18" id="18"/>
            <p:cNvSpPr/>
            <p:nvPr/>
          </p:nvSpPr>
          <p:spPr>
            <a:xfrm flipH="false" flipV="false" rot="0">
              <a:off x="0" y="0"/>
              <a:ext cx="1220329" cy="1277675"/>
            </a:xfrm>
            <a:custGeom>
              <a:avLst/>
              <a:gdLst/>
              <a:ahLst/>
              <a:cxnLst/>
              <a:rect r="r" b="b" t="t" l="l"/>
              <a:pathLst>
                <a:path h="1277675" w="1220329">
                  <a:moveTo>
                    <a:pt x="0" y="0"/>
                  </a:moveTo>
                  <a:lnTo>
                    <a:pt x="1220329" y="0"/>
                  </a:lnTo>
                  <a:lnTo>
                    <a:pt x="1220329" y="1277675"/>
                  </a:lnTo>
                  <a:lnTo>
                    <a:pt x="0" y="1277675"/>
                  </a:lnTo>
                  <a:close/>
                </a:path>
              </a:pathLst>
            </a:custGeom>
            <a:gradFill rotWithShape="true">
              <a:gsLst>
                <a:gs pos="0">
                  <a:srgbClr val="5347D9">
                    <a:alpha val="0"/>
                  </a:srgbClr>
                </a:gs>
                <a:gs pos="100000">
                  <a:srgbClr val="5347D9">
                    <a:alpha val="100000"/>
                  </a:srgbClr>
                </a:gs>
              </a:gsLst>
              <a:path path="circle">
                <a:fillToRect l="0" r="100000" t="0" b="100000"/>
              </a:path>
              <a:tileRect r="0" l="-100000" b="0" t="-100000"/>
            </a:gradFill>
            <a:ln w="38100" cap="sq">
              <a:gradFill>
                <a:gsLst>
                  <a:gs pos="0">
                    <a:srgbClr val="5347D9">
                      <a:alpha val="0"/>
                    </a:srgbClr>
                  </a:gs>
                  <a:gs pos="100000">
                    <a:srgbClr val="5347D9">
                      <a:alpha val="100000"/>
                    </a:srgbClr>
                  </a:gs>
                </a:gsLst>
                <a:lin ang="2700000"/>
              </a:gradFill>
              <a:prstDash val="solid"/>
              <a:miter/>
            </a:ln>
          </p:spPr>
        </p:sp>
        <p:sp>
          <p:nvSpPr>
            <p:cNvPr name="TextBox 19" id="19"/>
            <p:cNvSpPr txBox="true"/>
            <p:nvPr/>
          </p:nvSpPr>
          <p:spPr>
            <a:xfrm>
              <a:off x="0" y="-66675"/>
              <a:ext cx="1220329" cy="1344350"/>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20" id="20"/>
          <p:cNvGrpSpPr/>
          <p:nvPr/>
        </p:nvGrpSpPr>
        <p:grpSpPr>
          <a:xfrm rot="0">
            <a:off x="10262844" y="1810921"/>
            <a:ext cx="2074871" cy="2526423"/>
            <a:chOff x="0" y="0"/>
            <a:chExt cx="1466298" cy="1785407"/>
          </a:xfrm>
        </p:grpSpPr>
        <p:sp>
          <p:nvSpPr>
            <p:cNvPr name="Freeform 21" id="21"/>
            <p:cNvSpPr/>
            <p:nvPr/>
          </p:nvSpPr>
          <p:spPr>
            <a:xfrm flipH="false" flipV="false" rot="0">
              <a:off x="0" y="0"/>
              <a:ext cx="1466298" cy="1785407"/>
            </a:xfrm>
            <a:custGeom>
              <a:avLst/>
              <a:gdLst/>
              <a:ahLst/>
              <a:cxnLst/>
              <a:rect r="r" b="b" t="t" l="l"/>
              <a:pathLst>
                <a:path h="1785407" w="1466298">
                  <a:moveTo>
                    <a:pt x="0" y="0"/>
                  </a:moveTo>
                  <a:lnTo>
                    <a:pt x="1466298" y="0"/>
                  </a:lnTo>
                  <a:lnTo>
                    <a:pt x="1466298" y="1785407"/>
                  </a:lnTo>
                  <a:lnTo>
                    <a:pt x="0" y="1785407"/>
                  </a:lnTo>
                  <a:close/>
                </a:path>
              </a:pathLst>
            </a:custGeom>
            <a:blipFill>
              <a:blip r:embed="rId7"/>
              <a:stretch>
                <a:fillRect l="0" t="-16499" r="0" b="-16499"/>
              </a:stretch>
            </a:blipFill>
          </p:spPr>
        </p:sp>
      </p:grpSp>
      <p:grpSp>
        <p:nvGrpSpPr>
          <p:cNvPr name="Group 22" id="22"/>
          <p:cNvGrpSpPr/>
          <p:nvPr/>
        </p:nvGrpSpPr>
        <p:grpSpPr>
          <a:xfrm rot="0">
            <a:off x="13616603" y="1696632"/>
            <a:ext cx="4011520" cy="4188584"/>
            <a:chOff x="0" y="0"/>
            <a:chExt cx="1220329" cy="1274193"/>
          </a:xfrm>
        </p:grpSpPr>
        <p:sp>
          <p:nvSpPr>
            <p:cNvPr name="Freeform 23" id="23"/>
            <p:cNvSpPr/>
            <p:nvPr/>
          </p:nvSpPr>
          <p:spPr>
            <a:xfrm flipH="false" flipV="false" rot="0">
              <a:off x="0" y="0"/>
              <a:ext cx="1220329" cy="1274193"/>
            </a:xfrm>
            <a:custGeom>
              <a:avLst/>
              <a:gdLst/>
              <a:ahLst/>
              <a:cxnLst/>
              <a:rect r="r" b="b" t="t" l="l"/>
              <a:pathLst>
                <a:path h="1274193" w="1220329">
                  <a:moveTo>
                    <a:pt x="0" y="0"/>
                  </a:moveTo>
                  <a:lnTo>
                    <a:pt x="1220329" y="0"/>
                  </a:lnTo>
                  <a:lnTo>
                    <a:pt x="1220329" y="1274193"/>
                  </a:lnTo>
                  <a:lnTo>
                    <a:pt x="0" y="1274193"/>
                  </a:lnTo>
                  <a:close/>
                </a:path>
              </a:pathLst>
            </a:custGeom>
            <a:gradFill rotWithShape="true">
              <a:gsLst>
                <a:gs pos="0">
                  <a:srgbClr val="5347D9">
                    <a:alpha val="0"/>
                  </a:srgbClr>
                </a:gs>
                <a:gs pos="100000">
                  <a:srgbClr val="5347D9">
                    <a:alpha val="100000"/>
                  </a:srgbClr>
                </a:gs>
              </a:gsLst>
              <a:path path="circle">
                <a:fillToRect l="0" r="100000" t="0" b="100000"/>
              </a:path>
              <a:tileRect r="0" l="-100000" b="0" t="-100000"/>
            </a:gradFill>
            <a:ln w="38100" cap="sq">
              <a:gradFill>
                <a:gsLst>
                  <a:gs pos="0">
                    <a:srgbClr val="5347D9">
                      <a:alpha val="0"/>
                    </a:srgbClr>
                  </a:gs>
                  <a:gs pos="100000">
                    <a:srgbClr val="5347D9">
                      <a:alpha val="100000"/>
                    </a:srgbClr>
                  </a:gs>
                </a:gsLst>
                <a:lin ang="2700000"/>
              </a:gradFill>
              <a:prstDash val="solid"/>
              <a:miter/>
            </a:ln>
          </p:spPr>
        </p:sp>
        <p:sp>
          <p:nvSpPr>
            <p:cNvPr name="TextBox 24" id="24"/>
            <p:cNvSpPr txBox="true"/>
            <p:nvPr/>
          </p:nvSpPr>
          <p:spPr>
            <a:xfrm>
              <a:off x="0" y="-66675"/>
              <a:ext cx="1220329" cy="1340868"/>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25" id="25"/>
          <p:cNvGrpSpPr/>
          <p:nvPr/>
        </p:nvGrpSpPr>
        <p:grpSpPr>
          <a:xfrm rot="0">
            <a:off x="14584927" y="1810921"/>
            <a:ext cx="2074871" cy="2526423"/>
            <a:chOff x="0" y="0"/>
            <a:chExt cx="1466298" cy="1785407"/>
          </a:xfrm>
        </p:grpSpPr>
        <p:sp>
          <p:nvSpPr>
            <p:cNvPr name="Freeform 26" id="26"/>
            <p:cNvSpPr/>
            <p:nvPr/>
          </p:nvSpPr>
          <p:spPr>
            <a:xfrm flipH="false" flipV="false" rot="0">
              <a:off x="0" y="0"/>
              <a:ext cx="1466298" cy="1785407"/>
            </a:xfrm>
            <a:custGeom>
              <a:avLst/>
              <a:gdLst/>
              <a:ahLst/>
              <a:cxnLst/>
              <a:rect r="r" b="b" t="t" l="l"/>
              <a:pathLst>
                <a:path h="1785407" w="1466298">
                  <a:moveTo>
                    <a:pt x="0" y="0"/>
                  </a:moveTo>
                  <a:lnTo>
                    <a:pt x="1466298" y="0"/>
                  </a:lnTo>
                  <a:lnTo>
                    <a:pt x="1466298" y="1785407"/>
                  </a:lnTo>
                  <a:lnTo>
                    <a:pt x="0" y="1785407"/>
                  </a:lnTo>
                  <a:close/>
                </a:path>
              </a:pathLst>
            </a:custGeom>
            <a:blipFill>
              <a:blip r:embed="rId8"/>
              <a:stretch>
                <a:fillRect l="-31331" t="-11009" r="-22761" b="-15001"/>
              </a:stretch>
            </a:blipFill>
          </p:spPr>
        </p:sp>
      </p:grpSp>
      <p:sp>
        <p:nvSpPr>
          <p:cNvPr name="TextBox 27" id="27"/>
          <p:cNvSpPr txBox="true"/>
          <p:nvPr/>
        </p:nvSpPr>
        <p:spPr>
          <a:xfrm rot="0">
            <a:off x="13616603" y="4748188"/>
            <a:ext cx="4011520" cy="1182274"/>
          </a:xfrm>
          <a:prstGeom prst="rect">
            <a:avLst/>
          </a:prstGeom>
        </p:spPr>
        <p:txBody>
          <a:bodyPr anchor="t" rtlCol="false" tIns="0" lIns="0" bIns="0" rIns="0">
            <a:spAutoFit/>
          </a:bodyPr>
          <a:lstStyle/>
          <a:p>
            <a:pPr algn="ctr">
              <a:lnSpc>
                <a:spcPts val="2367"/>
              </a:lnSpc>
            </a:pPr>
            <a:r>
              <a:rPr lang="en-US" sz="1691">
                <a:solidFill>
                  <a:srgbClr val="FFFFFF"/>
                </a:solidFill>
                <a:latin typeface="Montserrat"/>
                <a:ea typeface="Montserrat"/>
                <a:cs typeface="Montserrat"/>
                <a:sym typeface="Montserrat"/>
              </a:rPr>
              <a:t>PRIODE IV tahun (2021-2022)</a:t>
            </a:r>
          </a:p>
          <a:p>
            <a:pPr algn="ctr">
              <a:lnSpc>
                <a:spcPts val="2367"/>
              </a:lnSpc>
            </a:pPr>
            <a:r>
              <a:rPr lang="en-US" sz="1691">
                <a:solidFill>
                  <a:srgbClr val="FFFFFF"/>
                </a:solidFill>
                <a:latin typeface="Montserrat"/>
                <a:ea typeface="Montserrat"/>
                <a:cs typeface="Montserrat"/>
                <a:sym typeface="Montserrat"/>
              </a:rPr>
              <a:t>HIMTI mulai berkembang </a:t>
            </a:r>
          </a:p>
          <a:p>
            <a:pPr algn="ctr">
              <a:lnSpc>
                <a:spcPts val="2367"/>
              </a:lnSpc>
            </a:pPr>
            <a:r>
              <a:rPr lang="en-US" sz="1691">
                <a:solidFill>
                  <a:srgbClr val="FFFFFF"/>
                </a:solidFill>
                <a:latin typeface="Montserrat"/>
                <a:ea typeface="Montserrat"/>
                <a:cs typeface="Montserrat"/>
                <a:sym typeface="Montserrat"/>
              </a:rPr>
              <a:t>dan berkabung di PERMIKOMNAS </a:t>
            </a:r>
          </a:p>
          <a:p>
            <a:pPr algn="ctr">
              <a:lnSpc>
                <a:spcPts val="2367"/>
              </a:lnSpc>
            </a:pPr>
          </a:p>
        </p:txBody>
      </p:sp>
      <p:sp>
        <p:nvSpPr>
          <p:cNvPr name="TextBox 28" id="28"/>
          <p:cNvSpPr txBox="true"/>
          <p:nvPr/>
        </p:nvSpPr>
        <p:spPr>
          <a:xfrm rot="0">
            <a:off x="14162320" y="4381173"/>
            <a:ext cx="2920085" cy="391038"/>
          </a:xfrm>
          <a:prstGeom prst="rect">
            <a:avLst/>
          </a:prstGeom>
        </p:spPr>
        <p:txBody>
          <a:bodyPr anchor="t" rtlCol="false" tIns="0" lIns="0" bIns="0" rIns="0">
            <a:spAutoFit/>
          </a:bodyPr>
          <a:lstStyle/>
          <a:p>
            <a:pPr algn="l">
              <a:lnSpc>
                <a:spcPts val="3030"/>
              </a:lnSpc>
            </a:pPr>
            <a:r>
              <a:rPr lang="en-US" sz="2164" b="true">
                <a:solidFill>
                  <a:srgbClr val="FFFFFF"/>
                </a:solidFill>
                <a:latin typeface="Poppins Bold"/>
                <a:ea typeface="Poppins Bold"/>
                <a:cs typeface="Poppins Bold"/>
                <a:sym typeface="Poppins Bold"/>
              </a:rPr>
              <a:t>IBNU HAYKAL LUBIS</a:t>
            </a:r>
          </a:p>
        </p:txBody>
      </p:sp>
      <p:grpSp>
        <p:nvGrpSpPr>
          <p:cNvPr name="Group 29" id="29"/>
          <p:cNvGrpSpPr/>
          <p:nvPr/>
        </p:nvGrpSpPr>
        <p:grpSpPr>
          <a:xfrm rot="0">
            <a:off x="659479" y="6044762"/>
            <a:ext cx="3966125" cy="4031370"/>
            <a:chOff x="0" y="0"/>
            <a:chExt cx="1220329" cy="1240404"/>
          </a:xfrm>
        </p:grpSpPr>
        <p:sp>
          <p:nvSpPr>
            <p:cNvPr name="Freeform 30" id="30"/>
            <p:cNvSpPr/>
            <p:nvPr/>
          </p:nvSpPr>
          <p:spPr>
            <a:xfrm flipH="false" flipV="false" rot="0">
              <a:off x="0" y="0"/>
              <a:ext cx="1220329" cy="1240404"/>
            </a:xfrm>
            <a:custGeom>
              <a:avLst/>
              <a:gdLst/>
              <a:ahLst/>
              <a:cxnLst/>
              <a:rect r="r" b="b" t="t" l="l"/>
              <a:pathLst>
                <a:path h="1240404" w="1220329">
                  <a:moveTo>
                    <a:pt x="0" y="0"/>
                  </a:moveTo>
                  <a:lnTo>
                    <a:pt x="1220329" y="0"/>
                  </a:lnTo>
                  <a:lnTo>
                    <a:pt x="1220329" y="1240404"/>
                  </a:lnTo>
                  <a:lnTo>
                    <a:pt x="0" y="1240404"/>
                  </a:lnTo>
                  <a:close/>
                </a:path>
              </a:pathLst>
            </a:custGeom>
            <a:gradFill rotWithShape="true">
              <a:gsLst>
                <a:gs pos="0">
                  <a:srgbClr val="5347D9">
                    <a:alpha val="0"/>
                  </a:srgbClr>
                </a:gs>
                <a:gs pos="100000">
                  <a:srgbClr val="5347D9">
                    <a:alpha val="100000"/>
                  </a:srgbClr>
                </a:gs>
              </a:gsLst>
              <a:path path="circle">
                <a:fillToRect l="0" r="100000" t="0" b="100000"/>
              </a:path>
              <a:tileRect r="0" l="-100000" b="0" t="-100000"/>
            </a:gradFill>
            <a:ln w="38100" cap="sq">
              <a:gradFill>
                <a:gsLst>
                  <a:gs pos="0">
                    <a:srgbClr val="5347D9">
                      <a:alpha val="0"/>
                    </a:srgbClr>
                  </a:gs>
                  <a:gs pos="100000">
                    <a:srgbClr val="5347D9">
                      <a:alpha val="100000"/>
                    </a:srgbClr>
                  </a:gs>
                </a:gsLst>
                <a:lin ang="2700000"/>
              </a:gradFill>
              <a:prstDash val="solid"/>
              <a:miter/>
            </a:ln>
          </p:spPr>
        </p:sp>
        <p:sp>
          <p:nvSpPr>
            <p:cNvPr name="TextBox 31" id="31"/>
            <p:cNvSpPr txBox="true"/>
            <p:nvPr/>
          </p:nvSpPr>
          <p:spPr>
            <a:xfrm>
              <a:off x="0" y="-66675"/>
              <a:ext cx="1220329" cy="1307079"/>
            </a:xfrm>
            <a:prstGeom prst="rect">
              <a:avLst/>
            </a:prstGeom>
          </p:spPr>
          <p:txBody>
            <a:bodyPr anchor="ctr" rtlCol="false" tIns="50225" lIns="50225" bIns="50225" rIns="50225"/>
            <a:lstStyle/>
            <a:p>
              <a:pPr algn="ctr" marL="0" indent="0" lvl="0">
                <a:lnSpc>
                  <a:spcPts val="3359"/>
                </a:lnSpc>
                <a:spcBef>
                  <a:spcPct val="0"/>
                </a:spcBef>
              </a:pPr>
            </a:p>
          </p:txBody>
        </p:sp>
      </p:grpSp>
      <p:grpSp>
        <p:nvGrpSpPr>
          <p:cNvPr name="Group 32" id="32"/>
          <p:cNvGrpSpPr/>
          <p:nvPr/>
        </p:nvGrpSpPr>
        <p:grpSpPr>
          <a:xfrm rot="0">
            <a:off x="1616846" y="6174820"/>
            <a:ext cx="2051392" cy="2497834"/>
            <a:chOff x="0" y="0"/>
            <a:chExt cx="1466298" cy="1785407"/>
          </a:xfrm>
        </p:grpSpPr>
        <p:sp>
          <p:nvSpPr>
            <p:cNvPr name="Freeform 33" id="33"/>
            <p:cNvSpPr/>
            <p:nvPr/>
          </p:nvSpPr>
          <p:spPr>
            <a:xfrm flipH="false" flipV="false" rot="0">
              <a:off x="0" y="0"/>
              <a:ext cx="1466298" cy="1785407"/>
            </a:xfrm>
            <a:custGeom>
              <a:avLst/>
              <a:gdLst/>
              <a:ahLst/>
              <a:cxnLst/>
              <a:rect r="r" b="b" t="t" l="l"/>
              <a:pathLst>
                <a:path h="1785407" w="1466298">
                  <a:moveTo>
                    <a:pt x="0" y="0"/>
                  </a:moveTo>
                  <a:lnTo>
                    <a:pt x="1466298" y="0"/>
                  </a:lnTo>
                  <a:lnTo>
                    <a:pt x="1466298" y="1785407"/>
                  </a:lnTo>
                  <a:lnTo>
                    <a:pt x="0" y="1785407"/>
                  </a:lnTo>
                  <a:close/>
                </a:path>
              </a:pathLst>
            </a:custGeom>
            <a:blipFill>
              <a:blip r:embed="rId9"/>
              <a:stretch>
                <a:fillRect l="-72915" t="-112794" r="-74414" b="-92010"/>
              </a:stretch>
            </a:blipFill>
          </p:spPr>
        </p:sp>
      </p:grpSp>
      <p:sp>
        <p:nvSpPr>
          <p:cNvPr name="TextBox 34" id="34"/>
          <p:cNvSpPr txBox="true"/>
          <p:nvPr/>
        </p:nvSpPr>
        <p:spPr>
          <a:xfrm rot="0">
            <a:off x="510663" y="9119630"/>
            <a:ext cx="4263758" cy="310417"/>
          </a:xfrm>
          <a:prstGeom prst="rect">
            <a:avLst/>
          </a:prstGeom>
        </p:spPr>
        <p:txBody>
          <a:bodyPr anchor="t" rtlCol="false" tIns="0" lIns="0" bIns="0" rIns="0">
            <a:spAutoFit/>
          </a:bodyPr>
          <a:lstStyle/>
          <a:p>
            <a:pPr algn="ctr">
              <a:lnSpc>
                <a:spcPts val="2516"/>
              </a:lnSpc>
            </a:pPr>
            <a:r>
              <a:rPr lang="en-US" sz="1797">
                <a:solidFill>
                  <a:srgbClr val="FFFFFF"/>
                </a:solidFill>
                <a:latin typeface="Montserrat"/>
                <a:ea typeface="Montserrat"/>
                <a:cs typeface="Montserrat"/>
                <a:sym typeface="Montserrat"/>
              </a:rPr>
              <a:t>PRIODE V tahun (2022-2023)</a:t>
            </a:r>
          </a:p>
        </p:txBody>
      </p:sp>
      <p:sp>
        <p:nvSpPr>
          <p:cNvPr name="TextBox 35" id="35"/>
          <p:cNvSpPr txBox="true"/>
          <p:nvPr/>
        </p:nvSpPr>
        <p:spPr>
          <a:xfrm rot="0">
            <a:off x="1199021" y="8673895"/>
            <a:ext cx="2887041" cy="377843"/>
          </a:xfrm>
          <a:prstGeom prst="rect">
            <a:avLst/>
          </a:prstGeom>
        </p:spPr>
        <p:txBody>
          <a:bodyPr anchor="t" rtlCol="false" tIns="0" lIns="0" bIns="0" rIns="0">
            <a:spAutoFit/>
          </a:bodyPr>
          <a:lstStyle/>
          <a:p>
            <a:pPr algn="l">
              <a:lnSpc>
                <a:spcPts val="2995"/>
              </a:lnSpc>
            </a:pPr>
            <a:r>
              <a:rPr lang="en-US" sz="2139" b="true">
                <a:solidFill>
                  <a:srgbClr val="FFFFFF"/>
                </a:solidFill>
                <a:latin typeface="Poppins Bold"/>
                <a:ea typeface="Poppins Bold"/>
                <a:cs typeface="Poppins Bold"/>
                <a:sym typeface="Poppins Bold"/>
              </a:rPr>
              <a:t>MHD ZIKRI ANSYARI</a:t>
            </a:r>
          </a:p>
        </p:txBody>
      </p:sp>
      <p:grpSp>
        <p:nvGrpSpPr>
          <p:cNvPr name="Group 36" id="36"/>
          <p:cNvGrpSpPr/>
          <p:nvPr/>
        </p:nvGrpSpPr>
        <p:grpSpPr>
          <a:xfrm rot="0">
            <a:off x="4823222" y="1708078"/>
            <a:ext cx="4312559" cy="4188584"/>
            <a:chOff x="0" y="0"/>
            <a:chExt cx="5750078" cy="5584779"/>
          </a:xfrm>
        </p:grpSpPr>
        <p:grpSp>
          <p:nvGrpSpPr>
            <p:cNvPr name="Group 37" id="37"/>
            <p:cNvGrpSpPr/>
            <p:nvPr/>
          </p:nvGrpSpPr>
          <p:grpSpPr>
            <a:xfrm rot="0">
              <a:off x="200693" y="0"/>
              <a:ext cx="5348693" cy="5584779"/>
              <a:chOff x="0" y="0"/>
              <a:chExt cx="1220329" cy="1274193"/>
            </a:xfrm>
          </p:grpSpPr>
          <p:sp>
            <p:nvSpPr>
              <p:cNvPr name="Freeform 38" id="38"/>
              <p:cNvSpPr/>
              <p:nvPr/>
            </p:nvSpPr>
            <p:spPr>
              <a:xfrm flipH="false" flipV="false" rot="0">
                <a:off x="0" y="0"/>
                <a:ext cx="1220329" cy="1274193"/>
              </a:xfrm>
              <a:custGeom>
                <a:avLst/>
                <a:gdLst/>
                <a:ahLst/>
                <a:cxnLst/>
                <a:rect r="r" b="b" t="t" l="l"/>
                <a:pathLst>
                  <a:path h="1274193" w="1220329">
                    <a:moveTo>
                      <a:pt x="0" y="0"/>
                    </a:moveTo>
                    <a:lnTo>
                      <a:pt x="1220329" y="0"/>
                    </a:lnTo>
                    <a:lnTo>
                      <a:pt x="1220329" y="1274193"/>
                    </a:lnTo>
                    <a:lnTo>
                      <a:pt x="0" y="1274193"/>
                    </a:lnTo>
                    <a:close/>
                  </a:path>
                </a:pathLst>
              </a:custGeom>
              <a:gradFill rotWithShape="true">
                <a:gsLst>
                  <a:gs pos="0">
                    <a:srgbClr val="5347D9">
                      <a:alpha val="0"/>
                    </a:srgbClr>
                  </a:gs>
                  <a:gs pos="100000">
                    <a:srgbClr val="5347D9">
                      <a:alpha val="100000"/>
                    </a:srgbClr>
                  </a:gs>
                </a:gsLst>
                <a:path path="circle">
                  <a:fillToRect l="0" r="100000" t="0" b="100000"/>
                </a:path>
                <a:tileRect r="0" l="-100000" b="0" t="-100000"/>
              </a:gradFill>
              <a:ln w="38100" cap="sq">
                <a:gradFill>
                  <a:gsLst>
                    <a:gs pos="0">
                      <a:srgbClr val="5347D9">
                        <a:alpha val="0"/>
                      </a:srgbClr>
                    </a:gs>
                    <a:gs pos="100000">
                      <a:srgbClr val="5347D9">
                        <a:alpha val="100000"/>
                      </a:srgbClr>
                    </a:gs>
                  </a:gsLst>
                  <a:lin ang="2700000"/>
                </a:gradFill>
                <a:prstDash val="solid"/>
                <a:miter/>
              </a:ln>
            </p:spPr>
          </p:sp>
          <p:sp>
            <p:nvSpPr>
              <p:cNvPr name="TextBox 39" id="39"/>
              <p:cNvSpPr txBox="true"/>
              <p:nvPr/>
            </p:nvSpPr>
            <p:spPr>
              <a:xfrm>
                <a:off x="0" y="-66675"/>
                <a:ext cx="1220329" cy="1340868"/>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40" id="40"/>
            <p:cNvGrpSpPr/>
            <p:nvPr/>
          </p:nvGrpSpPr>
          <p:grpSpPr>
            <a:xfrm rot="0">
              <a:off x="1491792" y="160024"/>
              <a:ext cx="2766495" cy="3368564"/>
              <a:chOff x="0" y="0"/>
              <a:chExt cx="1466298" cy="1785407"/>
            </a:xfrm>
          </p:grpSpPr>
          <p:sp>
            <p:nvSpPr>
              <p:cNvPr name="Freeform 41" id="41"/>
              <p:cNvSpPr/>
              <p:nvPr/>
            </p:nvSpPr>
            <p:spPr>
              <a:xfrm flipH="false" flipV="false" rot="0">
                <a:off x="0" y="0"/>
                <a:ext cx="1466298" cy="1785407"/>
              </a:xfrm>
              <a:custGeom>
                <a:avLst/>
                <a:gdLst/>
                <a:ahLst/>
                <a:cxnLst/>
                <a:rect r="r" b="b" t="t" l="l"/>
                <a:pathLst>
                  <a:path h="1785407" w="1466298">
                    <a:moveTo>
                      <a:pt x="0" y="0"/>
                    </a:moveTo>
                    <a:lnTo>
                      <a:pt x="1466298" y="0"/>
                    </a:lnTo>
                    <a:lnTo>
                      <a:pt x="1466298" y="1785407"/>
                    </a:lnTo>
                    <a:lnTo>
                      <a:pt x="0" y="1785407"/>
                    </a:lnTo>
                    <a:close/>
                  </a:path>
                </a:pathLst>
              </a:custGeom>
              <a:blipFill>
                <a:blip r:embed="rId10"/>
                <a:stretch>
                  <a:fillRect l="-10881" t="0" r="-10881" b="0"/>
                </a:stretch>
              </a:blipFill>
            </p:spPr>
          </p:sp>
        </p:grpSp>
        <p:sp>
          <p:nvSpPr>
            <p:cNvPr name="TextBox 42" id="42"/>
            <p:cNvSpPr txBox="true"/>
            <p:nvPr/>
          </p:nvSpPr>
          <p:spPr>
            <a:xfrm rot="0">
              <a:off x="0" y="4205612"/>
              <a:ext cx="5750078" cy="834164"/>
            </a:xfrm>
            <a:prstGeom prst="rect">
              <a:avLst/>
            </a:prstGeom>
          </p:spPr>
          <p:txBody>
            <a:bodyPr anchor="t" rtlCol="false" tIns="0" lIns="0" bIns="0" rIns="0">
              <a:spAutoFit/>
            </a:bodyPr>
            <a:lstStyle/>
            <a:p>
              <a:pPr algn="ctr">
                <a:lnSpc>
                  <a:spcPts val="2545"/>
                </a:lnSpc>
              </a:pPr>
              <a:r>
                <a:rPr lang="en-US" sz="1818">
                  <a:solidFill>
                    <a:srgbClr val="FFFFFF"/>
                  </a:solidFill>
                  <a:latin typeface="Montserrat"/>
                  <a:ea typeface="Montserrat"/>
                  <a:cs typeface="Montserrat"/>
                  <a:sym typeface="Montserrat"/>
                </a:rPr>
                <a:t>PRIODE II tahun (2019-2020)</a:t>
              </a:r>
            </a:p>
            <a:p>
              <a:pPr algn="ctr">
                <a:lnSpc>
                  <a:spcPts val="2545"/>
                </a:lnSpc>
              </a:pPr>
              <a:r>
                <a:rPr lang="en-US" sz="1818">
                  <a:solidFill>
                    <a:srgbClr val="FFFFFF"/>
                  </a:solidFill>
                  <a:latin typeface="Montserrat"/>
                  <a:ea typeface="Montserrat"/>
                  <a:cs typeface="Montserrat"/>
                  <a:sym typeface="Montserrat"/>
                </a:rPr>
                <a:t>Mulai aktif Kembali</a:t>
              </a:r>
            </a:p>
          </p:txBody>
        </p:sp>
        <p:sp>
          <p:nvSpPr>
            <p:cNvPr name="TextBox 43" id="43"/>
            <p:cNvSpPr txBox="true"/>
            <p:nvPr/>
          </p:nvSpPr>
          <p:spPr>
            <a:xfrm rot="0">
              <a:off x="1127784" y="3586352"/>
              <a:ext cx="3694808" cy="499159"/>
            </a:xfrm>
            <a:prstGeom prst="rect">
              <a:avLst/>
            </a:prstGeom>
          </p:spPr>
          <p:txBody>
            <a:bodyPr anchor="t" rtlCol="false" tIns="0" lIns="0" bIns="0" rIns="0">
              <a:spAutoFit/>
            </a:bodyPr>
            <a:lstStyle/>
            <a:p>
              <a:pPr algn="l">
                <a:lnSpc>
                  <a:spcPts val="3030"/>
                </a:lnSpc>
              </a:pPr>
              <a:r>
                <a:rPr lang="en-US" sz="2164" b="true">
                  <a:solidFill>
                    <a:srgbClr val="FFFFFF"/>
                  </a:solidFill>
                  <a:latin typeface="Poppins Bold"/>
                  <a:ea typeface="Poppins Bold"/>
                  <a:cs typeface="Poppins Bold"/>
                  <a:sym typeface="Poppins Bold"/>
                </a:rPr>
                <a:t>DERMAWAN S.Kom</a:t>
              </a:r>
            </a:p>
          </p:txBody>
        </p:sp>
      </p:grpSp>
      <p:sp>
        <p:nvSpPr>
          <p:cNvPr name="TextBox 44" id="44"/>
          <p:cNvSpPr txBox="true"/>
          <p:nvPr/>
        </p:nvSpPr>
        <p:spPr>
          <a:xfrm rot="0">
            <a:off x="9144000" y="4841316"/>
            <a:ext cx="4312559" cy="635148"/>
          </a:xfrm>
          <a:prstGeom prst="rect">
            <a:avLst/>
          </a:prstGeom>
        </p:spPr>
        <p:txBody>
          <a:bodyPr anchor="t" rtlCol="false" tIns="0" lIns="0" bIns="0" rIns="0">
            <a:spAutoFit/>
          </a:bodyPr>
          <a:lstStyle/>
          <a:p>
            <a:pPr algn="ctr">
              <a:lnSpc>
                <a:spcPts val="2545"/>
              </a:lnSpc>
            </a:pPr>
            <a:r>
              <a:rPr lang="en-US" sz="1818">
                <a:solidFill>
                  <a:srgbClr val="FFFFFF"/>
                </a:solidFill>
                <a:latin typeface="Montserrat"/>
                <a:ea typeface="Montserrat"/>
                <a:cs typeface="Montserrat"/>
                <a:sym typeface="Montserrat"/>
              </a:rPr>
              <a:t>PRIODE III tahun(2020-2021)</a:t>
            </a:r>
          </a:p>
          <a:p>
            <a:pPr algn="ctr">
              <a:lnSpc>
                <a:spcPts val="2545"/>
              </a:lnSpc>
            </a:pPr>
            <a:r>
              <a:rPr lang="en-US" sz="1818">
                <a:solidFill>
                  <a:srgbClr val="FFFFFF"/>
                </a:solidFill>
                <a:latin typeface="Montserrat"/>
                <a:ea typeface="Montserrat"/>
                <a:cs typeface="Montserrat"/>
                <a:sym typeface="Montserrat"/>
              </a:rPr>
              <a:t>PJ Kahim</a:t>
            </a:r>
          </a:p>
        </p:txBody>
      </p:sp>
      <p:sp>
        <p:nvSpPr>
          <p:cNvPr name="TextBox 45" id="45"/>
          <p:cNvSpPr txBox="true"/>
          <p:nvPr/>
        </p:nvSpPr>
        <p:spPr>
          <a:xfrm rot="0">
            <a:off x="9840237" y="4381173"/>
            <a:ext cx="2920085" cy="391038"/>
          </a:xfrm>
          <a:prstGeom prst="rect">
            <a:avLst/>
          </a:prstGeom>
        </p:spPr>
        <p:txBody>
          <a:bodyPr anchor="t" rtlCol="false" tIns="0" lIns="0" bIns="0" rIns="0">
            <a:spAutoFit/>
          </a:bodyPr>
          <a:lstStyle/>
          <a:p>
            <a:pPr algn="l">
              <a:lnSpc>
                <a:spcPts val="3030"/>
              </a:lnSpc>
            </a:pPr>
            <a:r>
              <a:rPr lang="en-US" sz="2164" b="true">
                <a:solidFill>
                  <a:srgbClr val="FFFFFF"/>
                </a:solidFill>
                <a:latin typeface="Poppins Bold"/>
                <a:ea typeface="Poppins Bold"/>
                <a:cs typeface="Poppins Bold"/>
                <a:sym typeface="Poppins Bold"/>
              </a:rPr>
              <a:t>REZA FAHLEVI S.Kom</a:t>
            </a:r>
          </a:p>
        </p:txBody>
      </p:sp>
      <p:grpSp>
        <p:nvGrpSpPr>
          <p:cNvPr name="Group 46" id="46"/>
          <p:cNvGrpSpPr/>
          <p:nvPr/>
        </p:nvGrpSpPr>
        <p:grpSpPr>
          <a:xfrm rot="0">
            <a:off x="9356162" y="6044762"/>
            <a:ext cx="3949877" cy="4031370"/>
            <a:chOff x="0" y="0"/>
            <a:chExt cx="1248436" cy="1274193"/>
          </a:xfrm>
        </p:grpSpPr>
        <p:sp>
          <p:nvSpPr>
            <p:cNvPr name="Freeform 47" id="47"/>
            <p:cNvSpPr/>
            <p:nvPr/>
          </p:nvSpPr>
          <p:spPr>
            <a:xfrm flipH="false" flipV="false" rot="0">
              <a:off x="0" y="0"/>
              <a:ext cx="1248436" cy="1274193"/>
            </a:xfrm>
            <a:custGeom>
              <a:avLst/>
              <a:gdLst/>
              <a:ahLst/>
              <a:cxnLst/>
              <a:rect r="r" b="b" t="t" l="l"/>
              <a:pathLst>
                <a:path h="1274193" w="1248436">
                  <a:moveTo>
                    <a:pt x="0" y="0"/>
                  </a:moveTo>
                  <a:lnTo>
                    <a:pt x="1248436" y="0"/>
                  </a:lnTo>
                  <a:lnTo>
                    <a:pt x="1248436" y="1274193"/>
                  </a:lnTo>
                  <a:lnTo>
                    <a:pt x="0" y="1274193"/>
                  </a:lnTo>
                  <a:close/>
                </a:path>
              </a:pathLst>
            </a:custGeom>
            <a:gradFill rotWithShape="true">
              <a:gsLst>
                <a:gs pos="0">
                  <a:srgbClr val="5347D9">
                    <a:alpha val="0"/>
                  </a:srgbClr>
                </a:gs>
                <a:gs pos="100000">
                  <a:srgbClr val="5347D9">
                    <a:alpha val="100000"/>
                  </a:srgbClr>
                </a:gs>
              </a:gsLst>
              <a:path path="circle">
                <a:fillToRect l="0" r="100000" t="0" b="100000"/>
              </a:path>
              <a:tileRect r="0" l="-100000" b="0" t="-100000"/>
            </a:gradFill>
            <a:ln w="38100" cap="sq">
              <a:gradFill>
                <a:gsLst>
                  <a:gs pos="0">
                    <a:srgbClr val="5347D9">
                      <a:alpha val="0"/>
                    </a:srgbClr>
                  </a:gs>
                  <a:gs pos="100000">
                    <a:srgbClr val="5347D9">
                      <a:alpha val="100000"/>
                    </a:srgbClr>
                  </a:gs>
                </a:gsLst>
                <a:lin ang="2700000"/>
              </a:gradFill>
              <a:prstDash val="solid"/>
              <a:miter/>
            </a:ln>
          </p:spPr>
        </p:sp>
        <p:sp>
          <p:nvSpPr>
            <p:cNvPr name="TextBox 48" id="48"/>
            <p:cNvSpPr txBox="true"/>
            <p:nvPr/>
          </p:nvSpPr>
          <p:spPr>
            <a:xfrm>
              <a:off x="0" y="-66675"/>
              <a:ext cx="1248436" cy="1340868"/>
            </a:xfrm>
            <a:prstGeom prst="rect">
              <a:avLst/>
            </a:prstGeom>
          </p:spPr>
          <p:txBody>
            <a:bodyPr anchor="ctr" rtlCol="false" tIns="48893" lIns="48893" bIns="48893" rIns="48893"/>
            <a:lstStyle/>
            <a:p>
              <a:pPr algn="ctr" marL="0" indent="0" lvl="0">
                <a:lnSpc>
                  <a:spcPts val="3359"/>
                </a:lnSpc>
                <a:spcBef>
                  <a:spcPct val="0"/>
                </a:spcBef>
              </a:pPr>
            </a:p>
          </p:txBody>
        </p:sp>
      </p:grpSp>
      <p:grpSp>
        <p:nvGrpSpPr>
          <p:cNvPr name="Group 49" id="49"/>
          <p:cNvGrpSpPr/>
          <p:nvPr/>
        </p:nvGrpSpPr>
        <p:grpSpPr>
          <a:xfrm rot="0">
            <a:off x="10288141" y="6154761"/>
            <a:ext cx="1996993" cy="2431597"/>
            <a:chOff x="0" y="0"/>
            <a:chExt cx="1466298" cy="1785407"/>
          </a:xfrm>
        </p:grpSpPr>
        <p:sp>
          <p:nvSpPr>
            <p:cNvPr name="Freeform 50" id="50"/>
            <p:cNvSpPr/>
            <p:nvPr/>
          </p:nvSpPr>
          <p:spPr>
            <a:xfrm flipH="false" flipV="false" rot="0">
              <a:off x="0" y="0"/>
              <a:ext cx="1466298" cy="1785407"/>
            </a:xfrm>
            <a:custGeom>
              <a:avLst/>
              <a:gdLst/>
              <a:ahLst/>
              <a:cxnLst/>
              <a:rect r="r" b="b" t="t" l="l"/>
              <a:pathLst>
                <a:path h="1785407" w="1466298">
                  <a:moveTo>
                    <a:pt x="0" y="0"/>
                  </a:moveTo>
                  <a:lnTo>
                    <a:pt x="1466298" y="0"/>
                  </a:lnTo>
                  <a:lnTo>
                    <a:pt x="1466298" y="1785407"/>
                  </a:lnTo>
                  <a:lnTo>
                    <a:pt x="0" y="1785407"/>
                  </a:lnTo>
                  <a:close/>
                </a:path>
              </a:pathLst>
            </a:custGeom>
            <a:blipFill>
              <a:blip r:embed="rId11"/>
              <a:stretch>
                <a:fillRect l="0" t="-43712" r="0" b="-38791"/>
              </a:stretch>
            </a:blipFill>
          </p:spPr>
        </p:sp>
      </p:grpSp>
      <p:grpSp>
        <p:nvGrpSpPr>
          <p:cNvPr name="Group 51" id="51"/>
          <p:cNvGrpSpPr/>
          <p:nvPr/>
        </p:nvGrpSpPr>
        <p:grpSpPr>
          <a:xfrm rot="0">
            <a:off x="13616603" y="6044762"/>
            <a:ext cx="4011520" cy="4031370"/>
            <a:chOff x="0" y="0"/>
            <a:chExt cx="1267919" cy="1274193"/>
          </a:xfrm>
        </p:grpSpPr>
        <p:sp>
          <p:nvSpPr>
            <p:cNvPr name="Freeform 52" id="52"/>
            <p:cNvSpPr/>
            <p:nvPr/>
          </p:nvSpPr>
          <p:spPr>
            <a:xfrm flipH="false" flipV="false" rot="0">
              <a:off x="0" y="0"/>
              <a:ext cx="1267919" cy="1274193"/>
            </a:xfrm>
            <a:custGeom>
              <a:avLst/>
              <a:gdLst/>
              <a:ahLst/>
              <a:cxnLst/>
              <a:rect r="r" b="b" t="t" l="l"/>
              <a:pathLst>
                <a:path h="1274193" w="1267919">
                  <a:moveTo>
                    <a:pt x="0" y="0"/>
                  </a:moveTo>
                  <a:lnTo>
                    <a:pt x="1267919" y="0"/>
                  </a:lnTo>
                  <a:lnTo>
                    <a:pt x="1267919" y="1274193"/>
                  </a:lnTo>
                  <a:lnTo>
                    <a:pt x="0" y="1274193"/>
                  </a:lnTo>
                  <a:close/>
                </a:path>
              </a:pathLst>
            </a:custGeom>
            <a:gradFill rotWithShape="true">
              <a:gsLst>
                <a:gs pos="0">
                  <a:srgbClr val="5347D9">
                    <a:alpha val="0"/>
                  </a:srgbClr>
                </a:gs>
                <a:gs pos="100000">
                  <a:srgbClr val="5347D9">
                    <a:alpha val="100000"/>
                  </a:srgbClr>
                </a:gs>
              </a:gsLst>
              <a:path path="circle">
                <a:fillToRect l="0" r="100000" t="0" b="100000"/>
              </a:path>
              <a:tileRect r="0" l="-100000" b="0" t="-100000"/>
            </a:gradFill>
            <a:ln w="38100" cap="sq">
              <a:gradFill>
                <a:gsLst>
                  <a:gs pos="0">
                    <a:srgbClr val="5347D9">
                      <a:alpha val="0"/>
                    </a:srgbClr>
                  </a:gs>
                  <a:gs pos="100000">
                    <a:srgbClr val="5347D9">
                      <a:alpha val="100000"/>
                    </a:srgbClr>
                  </a:gs>
                </a:gsLst>
                <a:lin ang="2700000"/>
              </a:gradFill>
              <a:prstDash val="solid"/>
              <a:miter/>
            </a:ln>
          </p:spPr>
        </p:sp>
        <p:sp>
          <p:nvSpPr>
            <p:cNvPr name="TextBox 53" id="53"/>
            <p:cNvSpPr txBox="true"/>
            <p:nvPr/>
          </p:nvSpPr>
          <p:spPr>
            <a:xfrm>
              <a:off x="0" y="-66675"/>
              <a:ext cx="1267919" cy="1340868"/>
            </a:xfrm>
            <a:prstGeom prst="rect">
              <a:avLst/>
            </a:prstGeom>
          </p:spPr>
          <p:txBody>
            <a:bodyPr anchor="ctr" rtlCol="false" tIns="48893" lIns="48893" bIns="48893" rIns="48893"/>
            <a:lstStyle/>
            <a:p>
              <a:pPr algn="ctr" marL="0" indent="0" lvl="0">
                <a:lnSpc>
                  <a:spcPts val="3359"/>
                </a:lnSpc>
                <a:spcBef>
                  <a:spcPct val="0"/>
                </a:spcBef>
              </a:pPr>
            </a:p>
          </p:txBody>
        </p:sp>
      </p:grpSp>
      <p:grpSp>
        <p:nvGrpSpPr>
          <p:cNvPr name="Group 54" id="54"/>
          <p:cNvGrpSpPr/>
          <p:nvPr/>
        </p:nvGrpSpPr>
        <p:grpSpPr>
          <a:xfrm rot="0">
            <a:off x="14627983" y="6154761"/>
            <a:ext cx="1996993" cy="2431597"/>
            <a:chOff x="0" y="0"/>
            <a:chExt cx="1466298" cy="1785407"/>
          </a:xfrm>
        </p:grpSpPr>
        <p:sp>
          <p:nvSpPr>
            <p:cNvPr name="Freeform 55" id="55"/>
            <p:cNvSpPr/>
            <p:nvPr/>
          </p:nvSpPr>
          <p:spPr>
            <a:xfrm flipH="false" flipV="false" rot="0">
              <a:off x="0" y="0"/>
              <a:ext cx="1466298" cy="1785407"/>
            </a:xfrm>
            <a:custGeom>
              <a:avLst/>
              <a:gdLst/>
              <a:ahLst/>
              <a:cxnLst/>
              <a:rect r="r" b="b" t="t" l="l"/>
              <a:pathLst>
                <a:path h="1785407" w="1466298">
                  <a:moveTo>
                    <a:pt x="0" y="0"/>
                  </a:moveTo>
                  <a:lnTo>
                    <a:pt x="1466298" y="0"/>
                  </a:lnTo>
                  <a:lnTo>
                    <a:pt x="1466298" y="1785407"/>
                  </a:lnTo>
                  <a:lnTo>
                    <a:pt x="0" y="1785407"/>
                  </a:lnTo>
                  <a:close/>
                </a:path>
              </a:pathLst>
            </a:custGeom>
            <a:blipFill>
              <a:blip r:embed="rId12"/>
              <a:stretch>
                <a:fillRect l="-47667" t="-75154" r="-37472" b="-53063"/>
              </a:stretch>
            </a:blipFill>
          </p:spPr>
        </p:sp>
      </p:grpSp>
      <p:sp>
        <p:nvSpPr>
          <p:cNvPr name="TextBox 56" id="56"/>
          <p:cNvSpPr txBox="true"/>
          <p:nvPr/>
        </p:nvSpPr>
        <p:spPr>
          <a:xfrm rot="0">
            <a:off x="9211292" y="9069983"/>
            <a:ext cx="4150691" cy="612738"/>
          </a:xfrm>
          <a:prstGeom prst="rect">
            <a:avLst/>
          </a:prstGeom>
        </p:spPr>
        <p:txBody>
          <a:bodyPr anchor="t" rtlCol="false" tIns="0" lIns="0" bIns="0" rIns="0">
            <a:spAutoFit/>
          </a:bodyPr>
          <a:lstStyle/>
          <a:p>
            <a:pPr algn="ctr">
              <a:lnSpc>
                <a:spcPts val="2449"/>
              </a:lnSpc>
            </a:pPr>
            <a:r>
              <a:rPr lang="en-US" sz="1749">
                <a:solidFill>
                  <a:srgbClr val="FFFFFF"/>
                </a:solidFill>
                <a:latin typeface="Montserrat"/>
                <a:ea typeface="Montserrat"/>
                <a:cs typeface="Montserrat"/>
                <a:sym typeface="Montserrat"/>
              </a:rPr>
              <a:t>PRIODE VI tahun (2023-2024)</a:t>
            </a:r>
          </a:p>
          <a:p>
            <a:pPr algn="ctr">
              <a:lnSpc>
                <a:spcPts val="2449"/>
              </a:lnSpc>
            </a:pPr>
            <a:r>
              <a:rPr lang="en-US" sz="1749">
                <a:solidFill>
                  <a:srgbClr val="FFFFFF"/>
                </a:solidFill>
                <a:latin typeface="Montserrat"/>
                <a:ea typeface="Montserrat"/>
                <a:cs typeface="Montserrat"/>
                <a:sym typeface="Montserrat"/>
              </a:rPr>
              <a:t>PJ Kahim</a:t>
            </a:r>
          </a:p>
        </p:txBody>
      </p:sp>
      <p:sp>
        <p:nvSpPr>
          <p:cNvPr name="TextBox 57" id="57"/>
          <p:cNvSpPr txBox="true"/>
          <p:nvPr/>
        </p:nvSpPr>
        <p:spPr>
          <a:xfrm rot="0">
            <a:off x="9881396" y="8626039"/>
            <a:ext cx="3049845" cy="378864"/>
          </a:xfrm>
          <a:prstGeom prst="rect">
            <a:avLst/>
          </a:prstGeom>
        </p:spPr>
        <p:txBody>
          <a:bodyPr anchor="t" rtlCol="false" tIns="0" lIns="0" bIns="0" rIns="0">
            <a:spAutoFit/>
          </a:bodyPr>
          <a:lstStyle/>
          <a:p>
            <a:pPr algn="l">
              <a:lnSpc>
                <a:spcPts val="2916"/>
              </a:lnSpc>
            </a:pPr>
            <a:r>
              <a:rPr lang="en-US" sz="2083" b="true">
                <a:solidFill>
                  <a:srgbClr val="FFFFFF"/>
                </a:solidFill>
                <a:latin typeface="Poppins Bold"/>
                <a:ea typeface="Poppins Bold"/>
                <a:cs typeface="Poppins Bold"/>
                <a:sym typeface="Poppins Bold"/>
              </a:rPr>
              <a:t>MHD RISKY AL FARIDZ</a:t>
            </a:r>
          </a:p>
        </p:txBody>
      </p:sp>
      <p:sp>
        <p:nvSpPr>
          <p:cNvPr name="TextBox 58" id="58"/>
          <p:cNvSpPr txBox="true"/>
          <p:nvPr/>
        </p:nvSpPr>
        <p:spPr>
          <a:xfrm rot="0">
            <a:off x="13551134" y="9069983"/>
            <a:ext cx="4150691" cy="612738"/>
          </a:xfrm>
          <a:prstGeom prst="rect">
            <a:avLst/>
          </a:prstGeom>
        </p:spPr>
        <p:txBody>
          <a:bodyPr anchor="t" rtlCol="false" tIns="0" lIns="0" bIns="0" rIns="0">
            <a:spAutoFit/>
          </a:bodyPr>
          <a:lstStyle/>
          <a:p>
            <a:pPr algn="ctr">
              <a:lnSpc>
                <a:spcPts val="2449"/>
              </a:lnSpc>
            </a:pPr>
            <a:r>
              <a:rPr lang="en-US" sz="1749">
                <a:solidFill>
                  <a:srgbClr val="FFFFFF"/>
                </a:solidFill>
                <a:latin typeface="Montserrat"/>
                <a:ea typeface="Montserrat"/>
                <a:cs typeface="Montserrat"/>
                <a:sym typeface="Montserrat"/>
              </a:rPr>
              <a:t>PRIODE VII tahun (2024-2025)</a:t>
            </a:r>
          </a:p>
          <a:p>
            <a:pPr algn="ctr">
              <a:lnSpc>
                <a:spcPts val="2449"/>
              </a:lnSpc>
            </a:pPr>
          </a:p>
        </p:txBody>
      </p:sp>
      <p:sp>
        <p:nvSpPr>
          <p:cNvPr name="TextBox 59" id="59"/>
          <p:cNvSpPr txBox="true"/>
          <p:nvPr/>
        </p:nvSpPr>
        <p:spPr>
          <a:xfrm rot="0">
            <a:off x="13867927" y="8619406"/>
            <a:ext cx="3517106" cy="385496"/>
          </a:xfrm>
          <a:prstGeom prst="rect">
            <a:avLst/>
          </a:prstGeom>
        </p:spPr>
        <p:txBody>
          <a:bodyPr anchor="t" rtlCol="false" tIns="0" lIns="0" bIns="0" rIns="0">
            <a:spAutoFit/>
          </a:bodyPr>
          <a:lstStyle/>
          <a:p>
            <a:pPr algn="l">
              <a:lnSpc>
                <a:spcPts val="3067"/>
              </a:lnSpc>
            </a:pPr>
            <a:r>
              <a:rPr lang="en-US" sz="2191" b="true">
                <a:solidFill>
                  <a:srgbClr val="FFFFFF"/>
                </a:solidFill>
                <a:latin typeface="Poppins Bold"/>
                <a:ea typeface="Poppins Bold"/>
                <a:cs typeface="Poppins Bold"/>
                <a:sym typeface="Poppins Bold"/>
              </a:rPr>
              <a:t>BINTANG FAJAR R PUTRA</a:t>
            </a:r>
          </a:p>
        </p:txBody>
      </p:sp>
      <p:grpSp>
        <p:nvGrpSpPr>
          <p:cNvPr name="Group 60" id="60"/>
          <p:cNvGrpSpPr/>
          <p:nvPr/>
        </p:nvGrpSpPr>
        <p:grpSpPr>
          <a:xfrm rot="0">
            <a:off x="4981961" y="6044762"/>
            <a:ext cx="4011520" cy="4031370"/>
            <a:chOff x="0" y="0"/>
            <a:chExt cx="1220329" cy="1226368"/>
          </a:xfrm>
        </p:grpSpPr>
        <p:sp>
          <p:nvSpPr>
            <p:cNvPr name="Freeform 61" id="61"/>
            <p:cNvSpPr/>
            <p:nvPr/>
          </p:nvSpPr>
          <p:spPr>
            <a:xfrm flipH="false" flipV="false" rot="0">
              <a:off x="0" y="0"/>
              <a:ext cx="1220329" cy="1226368"/>
            </a:xfrm>
            <a:custGeom>
              <a:avLst/>
              <a:gdLst/>
              <a:ahLst/>
              <a:cxnLst/>
              <a:rect r="r" b="b" t="t" l="l"/>
              <a:pathLst>
                <a:path h="1226368" w="1220329">
                  <a:moveTo>
                    <a:pt x="0" y="0"/>
                  </a:moveTo>
                  <a:lnTo>
                    <a:pt x="1220329" y="0"/>
                  </a:lnTo>
                  <a:lnTo>
                    <a:pt x="1220329" y="1226368"/>
                  </a:lnTo>
                  <a:lnTo>
                    <a:pt x="0" y="1226368"/>
                  </a:lnTo>
                  <a:close/>
                </a:path>
              </a:pathLst>
            </a:custGeom>
            <a:gradFill rotWithShape="true">
              <a:gsLst>
                <a:gs pos="0">
                  <a:srgbClr val="5347D9">
                    <a:alpha val="0"/>
                  </a:srgbClr>
                </a:gs>
                <a:gs pos="100000">
                  <a:srgbClr val="5347D9">
                    <a:alpha val="100000"/>
                  </a:srgbClr>
                </a:gs>
              </a:gsLst>
              <a:path path="circle">
                <a:fillToRect l="0" r="100000" t="0" b="100000"/>
              </a:path>
              <a:tileRect r="0" l="-100000" b="0" t="-100000"/>
            </a:gradFill>
            <a:ln w="38100" cap="sq">
              <a:gradFill>
                <a:gsLst>
                  <a:gs pos="0">
                    <a:srgbClr val="5347D9">
                      <a:alpha val="0"/>
                    </a:srgbClr>
                  </a:gs>
                  <a:gs pos="100000">
                    <a:srgbClr val="5347D9">
                      <a:alpha val="100000"/>
                    </a:srgbClr>
                  </a:gs>
                </a:gsLst>
                <a:lin ang="2700000"/>
              </a:gradFill>
              <a:prstDash val="solid"/>
              <a:miter/>
            </a:ln>
          </p:spPr>
        </p:sp>
        <p:sp>
          <p:nvSpPr>
            <p:cNvPr name="TextBox 62" id="62"/>
            <p:cNvSpPr txBox="true"/>
            <p:nvPr/>
          </p:nvSpPr>
          <p:spPr>
            <a:xfrm>
              <a:off x="0" y="-66675"/>
              <a:ext cx="1220329" cy="129304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3" id="63"/>
          <p:cNvGrpSpPr/>
          <p:nvPr/>
        </p:nvGrpSpPr>
        <p:grpSpPr>
          <a:xfrm rot="0">
            <a:off x="5950285" y="6164779"/>
            <a:ext cx="2074871" cy="2507875"/>
            <a:chOff x="0" y="0"/>
            <a:chExt cx="1466298" cy="1772299"/>
          </a:xfrm>
        </p:grpSpPr>
        <p:sp>
          <p:nvSpPr>
            <p:cNvPr name="Freeform 64" id="64"/>
            <p:cNvSpPr/>
            <p:nvPr/>
          </p:nvSpPr>
          <p:spPr>
            <a:xfrm flipH="false" flipV="false" rot="0">
              <a:off x="0" y="0"/>
              <a:ext cx="1466298" cy="1772299"/>
            </a:xfrm>
            <a:custGeom>
              <a:avLst/>
              <a:gdLst/>
              <a:ahLst/>
              <a:cxnLst/>
              <a:rect r="r" b="b" t="t" l="l"/>
              <a:pathLst>
                <a:path h="1772299" w="1466298">
                  <a:moveTo>
                    <a:pt x="0" y="0"/>
                  </a:moveTo>
                  <a:lnTo>
                    <a:pt x="1466298" y="0"/>
                  </a:lnTo>
                  <a:lnTo>
                    <a:pt x="1466298" y="1772299"/>
                  </a:lnTo>
                  <a:lnTo>
                    <a:pt x="0" y="1772299"/>
                  </a:lnTo>
                  <a:close/>
                </a:path>
              </a:pathLst>
            </a:custGeom>
            <a:blipFill>
              <a:blip r:embed="rId10"/>
              <a:stretch>
                <a:fillRect l="-10434" t="0" r="-10434" b="0"/>
              </a:stretch>
            </a:blipFill>
          </p:spPr>
        </p:sp>
      </p:grpSp>
      <p:sp>
        <p:nvSpPr>
          <p:cNvPr name="TextBox 65" id="65"/>
          <p:cNvSpPr txBox="true"/>
          <p:nvPr/>
        </p:nvSpPr>
        <p:spPr>
          <a:xfrm rot="0">
            <a:off x="4831441" y="9189446"/>
            <a:ext cx="4312559" cy="635148"/>
          </a:xfrm>
          <a:prstGeom prst="rect">
            <a:avLst/>
          </a:prstGeom>
        </p:spPr>
        <p:txBody>
          <a:bodyPr anchor="t" rtlCol="false" tIns="0" lIns="0" bIns="0" rIns="0">
            <a:spAutoFit/>
          </a:bodyPr>
          <a:lstStyle/>
          <a:p>
            <a:pPr algn="ctr">
              <a:lnSpc>
                <a:spcPts val="2545"/>
              </a:lnSpc>
            </a:pPr>
            <a:r>
              <a:rPr lang="en-US" sz="1818">
                <a:solidFill>
                  <a:srgbClr val="FFFFFF"/>
                </a:solidFill>
                <a:latin typeface="Montserrat"/>
                <a:ea typeface="Montserrat"/>
                <a:cs typeface="Montserrat"/>
                <a:sym typeface="Montserrat"/>
              </a:rPr>
              <a:t>PRIODE VI tahun (2023-2024)</a:t>
            </a:r>
          </a:p>
          <a:p>
            <a:pPr algn="ctr">
              <a:lnSpc>
                <a:spcPts val="2545"/>
              </a:lnSpc>
            </a:pPr>
            <a:r>
              <a:rPr lang="en-US" sz="1818">
                <a:solidFill>
                  <a:srgbClr val="FFFFFF"/>
                </a:solidFill>
                <a:latin typeface="Montserrat"/>
                <a:ea typeface="Montserrat"/>
                <a:cs typeface="Montserrat"/>
                <a:sym typeface="Montserrat"/>
              </a:rPr>
              <a:t>Redup Sementara</a:t>
            </a:r>
          </a:p>
        </p:txBody>
      </p:sp>
      <p:sp>
        <p:nvSpPr>
          <p:cNvPr name="TextBox 66" id="66"/>
          <p:cNvSpPr txBox="true"/>
          <p:nvPr/>
        </p:nvSpPr>
        <p:spPr>
          <a:xfrm rot="0">
            <a:off x="5488720" y="8662535"/>
            <a:ext cx="2981562" cy="391038"/>
          </a:xfrm>
          <a:prstGeom prst="rect">
            <a:avLst/>
          </a:prstGeom>
        </p:spPr>
        <p:txBody>
          <a:bodyPr anchor="t" rtlCol="false" tIns="0" lIns="0" bIns="0" rIns="0">
            <a:spAutoFit/>
          </a:bodyPr>
          <a:lstStyle/>
          <a:p>
            <a:pPr algn="l">
              <a:lnSpc>
                <a:spcPts val="3030"/>
              </a:lnSpc>
            </a:pPr>
            <a:r>
              <a:rPr lang="en-US" sz="2164" b="true">
                <a:solidFill>
                  <a:srgbClr val="FFFFFF"/>
                </a:solidFill>
                <a:latin typeface="Poppins Bold"/>
                <a:ea typeface="Poppins Bold"/>
                <a:cs typeface="Poppins Bold"/>
                <a:sym typeface="Poppins Bold"/>
              </a:rPr>
              <a:t>MHD FIKRI GUNAWAN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51037"/>
        </a:solidFill>
      </p:bgPr>
    </p:bg>
    <p:spTree>
      <p:nvGrpSpPr>
        <p:cNvPr id="1" name=""/>
        <p:cNvGrpSpPr/>
        <p:nvPr/>
      </p:nvGrpSpPr>
      <p:grpSpPr>
        <a:xfrm>
          <a:off x="0" y="0"/>
          <a:ext cx="0" cy="0"/>
          <a:chOff x="0" y="0"/>
          <a:chExt cx="0" cy="0"/>
        </a:xfrm>
      </p:grpSpPr>
      <p:sp>
        <p:nvSpPr>
          <p:cNvPr name="Freeform 2" id="2"/>
          <p:cNvSpPr/>
          <p:nvPr/>
        </p:nvSpPr>
        <p:spPr>
          <a:xfrm flipH="false" flipV="false" rot="0">
            <a:off x="7361546" y="46353"/>
            <a:ext cx="10841346" cy="10156986"/>
          </a:xfrm>
          <a:custGeom>
            <a:avLst/>
            <a:gdLst/>
            <a:ahLst/>
            <a:cxnLst/>
            <a:rect r="r" b="b" t="t" l="l"/>
            <a:pathLst>
              <a:path h="10156986" w="10841346">
                <a:moveTo>
                  <a:pt x="0" y="0"/>
                </a:moveTo>
                <a:lnTo>
                  <a:pt x="10841346" y="0"/>
                </a:lnTo>
                <a:lnTo>
                  <a:pt x="10841346" y="10156987"/>
                </a:lnTo>
                <a:lnTo>
                  <a:pt x="0" y="10156987"/>
                </a:lnTo>
                <a:lnTo>
                  <a:pt x="0" y="0"/>
                </a:lnTo>
                <a:close/>
              </a:path>
            </a:pathLst>
          </a:custGeom>
          <a:blipFill>
            <a:blip r:embed="rId2">
              <a:alphaModFix amt="53000"/>
            </a:blip>
            <a:stretch>
              <a:fillRect l="0" t="0" r="0" b="0"/>
            </a:stretch>
          </a:blipFill>
        </p:spPr>
      </p:sp>
      <p:grpSp>
        <p:nvGrpSpPr>
          <p:cNvPr name="Group 3" id="3"/>
          <p:cNvGrpSpPr/>
          <p:nvPr/>
        </p:nvGrpSpPr>
        <p:grpSpPr>
          <a:xfrm rot="-10800000">
            <a:off x="0" y="-120224"/>
            <a:ext cx="11104756" cy="10407224"/>
            <a:chOff x="0" y="0"/>
            <a:chExt cx="5674821" cy="5318364"/>
          </a:xfrm>
        </p:grpSpPr>
        <p:sp>
          <p:nvSpPr>
            <p:cNvPr name="Freeform 4" id="4"/>
            <p:cNvSpPr/>
            <p:nvPr/>
          </p:nvSpPr>
          <p:spPr>
            <a:xfrm flipH="false" flipV="false" rot="0">
              <a:off x="0" y="0"/>
              <a:ext cx="5674821" cy="5318364"/>
            </a:xfrm>
            <a:custGeom>
              <a:avLst/>
              <a:gdLst/>
              <a:ahLst/>
              <a:cxnLst/>
              <a:rect r="r" b="b" t="t" l="l"/>
              <a:pathLst>
                <a:path h="5318364" w="5674821">
                  <a:moveTo>
                    <a:pt x="0" y="0"/>
                  </a:moveTo>
                  <a:lnTo>
                    <a:pt x="5674821" y="0"/>
                  </a:lnTo>
                  <a:lnTo>
                    <a:pt x="5674821" y="5318364"/>
                  </a:lnTo>
                  <a:lnTo>
                    <a:pt x="0" y="5318364"/>
                  </a:lnTo>
                  <a:close/>
                </a:path>
              </a:pathLst>
            </a:custGeom>
            <a:gradFill rotWithShape="true">
              <a:gsLst>
                <a:gs pos="0">
                  <a:srgbClr val="5347D9">
                    <a:alpha val="0"/>
                  </a:srgbClr>
                </a:gs>
                <a:gs pos="50000">
                  <a:srgbClr val="151037">
                    <a:alpha val="100000"/>
                  </a:srgbClr>
                </a:gs>
                <a:gs pos="100000">
                  <a:srgbClr val="151037">
                    <a:alpha val="100000"/>
                  </a:srgbClr>
                </a:gs>
              </a:gsLst>
              <a:lin ang="0"/>
            </a:gradFill>
          </p:spPr>
        </p:sp>
        <p:sp>
          <p:nvSpPr>
            <p:cNvPr name="TextBox 5" id="5"/>
            <p:cNvSpPr txBox="true"/>
            <p:nvPr/>
          </p:nvSpPr>
          <p:spPr>
            <a:xfrm>
              <a:off x="0" y="-66675"/>
              <a:ext cx="5674821" cy="5385039"/>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401211" y="0"/>
            <a:ext cx="19090422" cy="5531474"/>
            <a:chOff x="0" y="0"/>
            <a:chExt cx="9755705" cy="2826728"/>
          </a:xfrm>
        </p:grpSpPr>
        <p:sp>
          <p:nvSpPr>
            <p:cNvPr name="Freeform 7" id="7"/>
            <p:cNvSpPr/>
            <p:nvPr/>
          </p:nvSpPr>
          <p:spPr>
            <a:xfrm flipH="false" flipV="false" rot="0">
              <a:off x="0" y="0"/>
              <a:ext cx="9755705" cy="2826728"/>
            </a:xfrm>
            <a:custGeom>
              <a:avLst/>
              <a:gdLst/>
              <a:ahLst/>
              <a:cxnLst/>
              <a:rect r="r" b="b" t="t" l="l"/>
              <a:pathLst>
                <a:path h="2826728" w="9755705">
                  <a:moveTo>
                    <a:pt x="0" y="0"/>
                  </a:moveTo>
                  <a:lnTo>
                    <a:pt x="9755705" y="0"/>
                  </a:lnTo>
                  <a:lnTo>
                    <a:pt x="9755705" y="2826728"/>
                  </a:lnTo>
                  <a:lnTo>
                    <a:pt x="0" y="2826728"/>
                  </a:lnTo>
                  <a:close/>
                </a:path>
              </a:pathLst>
            </a:custGeom>
            <a:gradFill rotWithShape="true">
              <a:gsLst>
                <a:gs pos="0">
                  <a:srgbClr val="5347D9">
                    <a:alpha val="59500"/>
                  </a:srgbClr>
                </a:gs>
                <a:gs pos="100000">
                  <a:srgbClr val="5347D9">
                    <a:alpha val="0"/>
                  </a:srgbClr>
                </a:gs>
              </a:gsLst>
              <a:lin ang="5400000"/>
            </a:gradFill>
          </p:spPr>
        </p:sp>
        <p:sp>
          <p:nvSpPr>
            <p:cNvPr name="TextBox 8" id="8"/>
            <p:cNvSpPr txBox="true"/>
            <p:nvPr/>
          </p:nvSpPr>
          <p:spPr>
            <a:xfrm>
              <a:off x="0" y="-66675"/>
              <a:ext cx="9755705" cy="2893403"/>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3749466" y="2584852"/>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3"/>
            <a:stretch>
              <a:fillRect l="0" t="0" r="0" b="0"/>
            </a:stretch>
          </a:blipFill>
          <a:ln cap="sq">
            <a:noFill/>
            <a:prstDash val="solid"/>
            <a:miter/>
          </a:ln>
        </p:spPr>
      </p:sp>
      <p:sp>
        <p:nvSpPr>
          <p:cNvPr name="Freeform 10" id="10"/>
          <p:cNvSpPr/>
          <p:nvPr/>
        </p:nvSpPr>
        <p:spPr>
          <a:xfrm flipH="true" flipV="false" rot="0">
            <a:off x="13579006" y="1394680"/>
            <a:ext cx="589664" cy="530698"/>
          </a:xfrm>
          <a:custGeom>
            <a:avLst/>
            <a:gdLst/>
            <a:ahLst/>
            <a:cxnLst/>
            <a:rect r="r" b="b" t="t" l="l"/>
            <a:pathLst>
              <a:path h="530698" w="589664">
                <a:moveTo>
                  <a:pt x="589664" y="0"/>
                </a:moveTo>
                <a:lnTo>
                  <a:pt x="0" y="0"/>
                </a:lnTo>
                <a:lnTo>
                  <a:pt x="0" y="530698"/>
                </a:lnTo>
                <a:lnTo>
                  <a:pt x="589664" y="530698"/>
                </a:lnTo>
                <a:lnTo>
                  <a:pt x="58966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733817" y="2066961"/>
            <a:ext cx="8155776" cy="961771"/>
          </a:xfrm>
          <a:prstGeom prst="rect">
            <a:avLst/>
          </a:prstGeom>
        </p:spPr>
        <p:txBody>
          <a:bodyPr anchor="t" rtlCol="false" tIns="0" lIns="0" bIns="0" rIns="0">
            <a:spAutoFit/>
          </a:bodyPr>
          <a:lstStyle/>
          <a:p>
            <a:pPr algn="l">
              <a:lnSpc>
                <a:spcPts val="6767"/>
              </a:lnSpc>
            </a:pPr>
            <a:r>
              <a:rPr lang="en-US" sz="6700" b="true">
                <a:solidFill>
                  <a:srgbClr val="FFFFFF"/>
                </a:solidFill>
                <a:latin typeface="Poppins Bold"/>
                <a:ea typeface="Poppins Bold"/>
                <a:cs typeface="Poppins Bold"/>
                <a:sym typeface="Poppins Bold"/>
              </a:rPr>
              <a:t>PERMIKOMNAS </a:t>
            </a:r>
          </a:p>
        </p:txBody>
      </p:sp>
      <p:sp>
        <p:nvSpPr>
          <p:cNvPr name="TextBox 12" id="12"/>
          <p:cNvSpPr txBox="true"/>
          <p:nvPr/>
        </p:nvSpPr>
        <p:spPr>
          <a:xfrm rot="0">
            <a:off x="1733817" y="3480807"/>
            <a:ext cx="14008470" cy="2193925"/>
          </a:xfrm>
          <a:prstGeom prst="rect">
            <a:avLst/>
          </a:prstGeom>
        </p:spPr>
        <p:txBody>
          <a:bodyPr anchor="t" rtlCol="false" tIns="0" lIns="0" bIns="0" rIns="0">
            <a:spAutoFit/>
          </a:bodyPr>
          <a:lstStyle/>
          <a:p>
            <a:pPr algn="just">
              <a:lnSpc>
                <a:spcPts val="3499"/>
              </a:lnSpc>
            </a:pPr>
            <a:r>
              <a:rPr lang="en-US" sz="2499">
                <a:solidFill>
                  <a:srgbClr val="FFFFFF"/>
                </a:solidFill>
                <a:latin typeface="Poppins"/>
                <a:ea typeface="Poppins"/>
                <a:cs typeface="Poppins"/>
                <a:sym typeface="Poppins"/>
              </a:rPr>
              <a:t>   PERMIKOMNAS adalah Perhimpunan Mahasiswa Informatika dan Komputer Nasional, sebuah organisasi yang menjadi wadah bagi himpunan mahasiswa informatika dan komputer di seluruh perguruan tinggi di Indonesia. Didirikan pada tahun 2002, PERMIKOMNAS bertujuan untuk mempersatukan mahasiswa, mendorong inovasi teknologi, dan membentuk generasi muda yang unggul di era digital.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151037"/>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657561" y="0"/>
            <a:ext cx="16041779" cy="10687835"/>
          </a:xfrm>
          <a:custGeom>
            <a:avLst/>
            <a:gdLst/>
            <a:ahLst/>
            <a:cxnLst/>
            <a:rect r="r" b="b" t="t" l="l"/>
            <a:pathLst>
              <a:path h="10687835" w="16041779">
                <a:moveTo>
                  <a:pt x="0" y="0"/>
                </a:moveTo>
                <a:lnTo>
                  <a:pt x="16041779" y="0"/>
                </a:lnTo>
                <a:lnTo>
                  <a:pt x="16041779" y="10687835"/>
                </a:lnTo>
                <a:lnTo>
                  <a:pt x="0" y="10687835"/>
                </a:lnTo>
                <a:lnTo>
                  <a:pt x="0" y="0"/>
                </a:lnTo>
                <a:close/>
              </a:path>
            </a:pathLst>
          </a:custGeom>
          <a:blipFill>
            <a:blip r:embed="rId2"/>
            <a:stretch>
              <a:fillRect l="0" t="0" r="0" b="0"/>
            </a:stretch>
          </a:blipFill>
        </p:spPr>
      </p:sp>
      <p:grpSp>
        <p:nvGrpSpPr>
          <p:cNvPr name="Group 6" id="6"/>
          <p:cNvGrpSpPr/>
          <p:nvPr/>
        </p:nvGrpSpPr>
        <p:grpSpPr>
          <a:xfrm rot="0">
            <a:off x="6102098" y="0"/>
            <a:ext cx="7717357" cy="10287000"/>
            <a:chOff x="0" y="0"/>
            <a:chExt cx="3943771" cy="5256926"/>
          </a:xfrm>
        </p:grpSpPr>
        <p:sp>
          <p:nvSpPr>
            <p:cNvPr name="Freeform 7" id="7"/>
            <p:cNvSpPr/>
            <p:nvPr/>
          </p:nvSpPr>
          <p:spPr>
            <a:xfrm flipH="false" flipV="false" rot="0">
              <a:off x="0" y="0"/>
              <a:ext cx="3943771" cy="5256926"/>
            </a:xfrm>
            <a:custGeom>
              <a:avLst/>
              <a:gdLst/>
              <a:ahLst/>
              <a:cxnLst/>
              <a:rect r="r" b="b" t="t" l="l"/>
              <a:pathLst>
                <a:path h="5256926" w="3943771">
                  <a:moveTo>
                    <a:pt x="0" y="0"/>
                  </a:moveTo>
                  <a:lnTo>
                    <a:pt x="3943771" y="0"/>
                  </a:lnTo>
                  <a:lnTo>
                    <a:pt x="3943771" y="5256926"/>
                  </a:lnTo>
                  <a:lnTo>
                    <a:pt x="0" y="5256926"/>
                  </a:lnTo>
                  <a:close/>
                </a:path>
              </a:pathLst>
            </a:custGeom>
            <a:gradFill rotWithShape="true">
              <a:gsLst>
                <a:gs pos="0">
                  <a:srgbClr val="5347D9">
                    <a:alpha val="0"/>
                  </a:srgbClr>
                </a:gs>
                <a:gs pos="100000">
                  <a:srgbClr val="151037">
                    <a:alpha val="100000"/>
                  </a:srgbClr>
                </a:gs>
              </a:gsLst>
              <a:lin ang="0"/>
            </a:gradFill>
          </p:spPr>
        </p:sp>
        <p:sp>
          <p:nvSpPr>
            <p:cNvPr name="TextBox 8" id="8"/>
            <p:cNvSpPr txBox="true"/>
            <p:nvPr/>
          </p:nvSpPr>
          <p:spPr>
            <a:xfrm>
              <a:off x="0" y="-66675"/>
              <a:ext cx="3943771" cy="5323601"/>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true" rot="-2524046">
            <a:off x="10621834" y="2815027"/>
            <a:ext cx="15332333" cy="6612069"/>
          </a:xfrm>
          <a:custGeom>
            <a:avLst/>
            <a:gdLst/>
            <a:ahLst/>
            <a:cxnLst/>
            <a:rect r="r" b="b" t="t" l="l"/>
            <a:pathLst>
              <a:path h="6612069" w="15332333">
                <a:moveTo>
                  <a:pt x="0" y="6612068"/>
                </a:moveTo>
                <a:lnTo>
                  <a:pt x="15332332" y="6612068"/>
                </a:lnTo>
                <a:lnTo>
                  <a:pt x="15332332" y="0"/>
                </a:lnTo>
                <a:lnTo>
                  <a:pt x="0" y="0"/>
                </a:lnTo>
                <a:lnTo>
                  <a:pt x="0" y="6612068"/>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0" id="10"/>
          <p:cNvGrpSpPr/>
          <p:nvPr/>
        </p:nvGrpSpPr>
        <p:grpSpPr>
          <a:xfrm rot="-10800000">
            <a:off x="8374147" y="3263480"/>
            <a:ext cx="7905142" cy="5994820"/>
            <a:chOff x="0" y="0"/>
            <a:chExt cx="4039735" cy="3063510"/>
          </a:xfrm>
        </p:grpSpPr>
        <p:sp>
          <p:nvSpPr>
            <p:cNvPr name="Freeform 11" id="11"/>
            <p:cNvSpPr/>
            <p:nvPr/>
          </p:nvSpPr>
          <p:spPr>
            <a:xfrm flipH="false" flipV="false" rot="0">
              <a:off x="0" y="0"/>
              <a:ext cx="4039734" cy="3063510"/>
            </a:xfrm>
            <a:custGeom>
              <a:avLst/>
              <a:gdLst/>
              <a:ahLst/>
              <a:cxnLst/>
              <a:rect r="r" b="b" t="t" l="l"/>
              <a:pathLst>
                <a:path h="3063510" w="4039734">
                  <a:moveTo>
                    <a:pt x="0" y="0"/>
                  </a:moveTo>
                  <a:lnTo>
                    <a:pt x="4039734" y="0"/>
                  </a:lnTo>
                  <a:lnTo>
                    <a:pt x="4039734" y="3063510"/>
                  </a:lnTo>
                  <a:lnTo>
                    <a:pt x="0" y="3063510"/>
                  </a:lnTo>
                  <a:close/>
                </a:path>
              </a:pathLst>
            </a:custGeom>
            <a:gradFill rotWithShape="true">
              <a:gsLst>
                <a:gs pos="0">
                  <a:srgbClr val="5347D9">
                    <a:alpha val="0"/>
                  </a:srgbClr>
                </a:gs>
                <a:gs pos="100000">
                  <a:srgbClr val="5347D9">
                    <a:alpha val="74500"/>
                  </a:srgbClr>
                </a:gs>
              </a:gsLst>
              <a:lin ang="2700000"/>
            </a:gradFill>
            <a:ln w="47625" cap="sq">
              <a:gradFill>
                <a:gsLst>
                  <a:gs pos="0">
                    <a:srgbClr val="5347D9">
                      <a:alpha val="0"/>
                    </a:srgbClr>
                  </a:gs>
                  <a:gs pos="100000">
                    <a:srgbClr val="6153FF">
                      <a:alpha val="100000"/>
                    </a:srgbClr>
                  </a:gs>
                </a:gsLst>
                <a:path path="circle">
                  <a:fillToRect l="0" r="100000" t="0" b="100000"/>
                </a:path>
                <a:tileRect r="0" l="-100000" b="0" t="-100000"/>
              </a:gradFill>
              <a:prstDash val="solid"/>
              <a:miter/>
            </a:ln>
          </p:spPr>
        </p:sp>
        <p:sp>
          <p:nvSpPr>
            <p:cNvPr name="TextBox 12" id="12"/>
            <p:cNvSpPr txBox="true"/>
            <p:nvPr/>
          </p:nvSpPr>
          <p:spPr>
            <a:xfrm>
              <a:off x="0" y="-66675"/>
              <a:ext cx="4039735" cy="313018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3" id="13"/>
          <p:cNvSpPr/>
          <p:nvPr/>
        </p:nvSpPr>
        <p:spPr>
          <a:xfrm flipH="true" flipV="false" rot="0">
            <a:off x="12658303" y="879434"/>
            <a:ext cx="860735" cy="774662"/>
          </a:xfrm>
          <a:custGeom>
            <a:avLst/>
            <a:gdLst/>
            <a:ahLst/>
            <a:cxnLst/>
            <a:rect r="r" b="b" t="t" l="l"/>
            <a:pathLst>
              <a:path h="774662" w="860735">
                <a:moveTo>
                  <a:pt x="860735" y="0"/>
                </a:moveTo>
                <a:lnTo>
                  <a:pt x="0" y="0"/>
                </a:lnTo>
                <a:lnTo>
                  <a:pt x="0" y="774662"/>
                </a:lnTo>
                <a:lnTo>
                  <a:pt x="860735" y="774662"/>
                </a:lnTo>
                <a:lnTo>
                  <a:pt x="86073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8070057" y="2819600"/>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7"/>
            <a:stretch>
              <a:fillRect l="0" t="0" r="0" b="0"/>
            </a:stretch>
          </a:blipFill>
          <a:ln cap="sq">
            <a:noFill/>
            <a:prstDash val="solid"/>
            <a:miter/>
          </a:ln>
        </p:spPr>
      </p:sp>
      <p:sp>
        <p:nvSpPr>
          <p:cNvPr name="Freeform 15" id="15"/>
          <p:cNvSpPr/>
          <p:nvPr/>
        </p:nvSpPr>
        <p:spPr>
          <a:xfrm flipH="false" flipV="false" rot="0">
            <a:off x="11362749" y="8764885"/>
            <a:ext cx="6140127" cy="887760"/>
          </a:xfrm>
          <a:custGeom>
            <a:avLst/>
            <a:gdLst/>
            <a:ahLst/>
            <a:cxnLst/>
            <a:rect r="r" b="b" t="t" l="l"/>
            <a:pathLst>
              <a:path h="887760" w="6140127">
                <a:moveTo>
                  <a:pt x="0" y="0"/>
                </a:moveTo>
                <a:lnTo>
                  <a:pt x="6140127" y="0"/>
                </a:lnTo>
                <a:lnTo>
                  <a:pt x="6140127" y="887760"/>
                </a:lnTo>
                <a:lnTo>
                  <a:pt x="0" y="887760"/>
                </a:lnTo>
                <a:lnTo>
                  <a:pt x="0" y="0"/>
                </a:lnTo>
                <a:close/>
              </a:path>
            </a:pathLst>
          </a:custGeom>
          <a:blipFill>
            <a:blip r:embed="rId8"/>
            <a:stretch>
              <a:fillRect l="0" t="0" r="0" b="0"/>
            </a:stretch>
          </a:blipFill>
        </p:spPr>
      </p:sp>
      <p:sp>
        <p:nvSpPr>
          <p:cNvPr name="Freeform 16" id="16"/>
          <p:cNvSpPr/>
          <p:nvPr/>
        </p:nvSpPr>
        <p:spPr>
          <a:xfrm flipH="false" flipV="false" rot="0">
            <a:off x="2235026" y="2236785"/>
            <a:ext cx="6256605" cy="6256605"/>
          </a:xfrm>
          <a:custGeom>
            <a:avLst/>
            <a:gdLst/>
            <a:ahLst/>
            <a:cxnLst/>
            <a:rect r="r" b="b" t="t" l="l"/>
            <a:pathLst>
              <a:path h="6256605" w="6256605">
                <a:moveTo>
                  <a:pt x="0" y="0"/>
                </a:moveTo>
                <a:lnTo>
                  <a:pt x="6256605" y="0"/>
                </a:lnTo>
                <a:lnTo>
                  <a:pt x="6256605" y="6256605"/>
                </a:lnTo>
                <a:lnTo>
                  <a:pt x="0" y="6256605"/>
                </a:lnTo>
                <a:lnTo>
                  <a:pt x="0" y="0"/>
                </a:lnTo>
                <a:close/>
              </a:path>
            </a:pathLst>
          </a:custGeom>
          <a:blipFill>
            <a:blip r:embed="rId9"/>
            <a:stretch>
              <a:fillRect l="0" t="0" r="0" b="0"/>
            </a:stretch>
          </a:blipFill>
        </p:spPr>
      </p:sp>
      <p:sp>
        <p:nvSpPr>
          <p:cNvPr name="Freeform 17" id="17"/>
          <p:cNvSpPr/>
          <p:nvPr/>
        </p:nvSpPr>
        <p:spPr>
          <a:xfrm flipH="false" flipV="false" rot="0">
            <a:off x="15729645" y="770544"/>
            <a:ext cx="1099289" cy="975120"/>
          </a:xfrm>
          <a:custGeom>
            <a:avLst/>
            <a:gdLst/>
            <a:ahLst/>
            <a:cxnLst/>
            <a:rect r="r" b="b" t="t" l="l"/>
            <a:pathLst>
              <a:path h="975120" w="1099289">
                <a:moveTo>
                  <a:pt x="0" y="0"/>
                </a:moveTo>
                <a:lnTo>
                  <a:pt x="1099289" y="0"/>
                </a:lnTo>
                <a:lnTo>
                  <a:pt x="1099289" y="975121"/>
                </a:lnTo>
                <a:lnTo>
                  <a:pt x="0" y="975121"/>
                </a:lnTo>
                <a:lnTo>
                  <a:pt x="0" y="0"/>
                </a:lnTo>
                <a:close/>
              </a:path>
            </a:pathLst>
          </a:custGeom>
          <a:blipFill>
            <a:blip r:embed="rId10"/>
            <a:stretch>
              <a:fillRect l="-628" t="0" r="-628" b="0"/>
            </a:stretch>
          </a:blipFill>
        </p:spPr>
      </p:sp>
      <p:sp>
        <p:nvSpPr>
          <p:cNvPr name="TextBox 18" id="18"/>
          <p:cNvSpPr txBox="true"/>
          <p:nvPr/>
        </p:nvSpPr>
        <p:spPr>
          <a:xfrm rot="0">
            <a:off x="9582153" y="5137561"/>
            <a:ext cx="6038776" cy="388377"/>
          </a:xfrm>
          <a:prstGeom prst="rect">
            <a:avLst/>
          </a:prstGeom>
        </p:spPr>
        <p:txBody>
          <a:bodyPr anchor="t" rtlCol="false" tIns="0" lIns="0" bIns="0" rIns="0">
            <a:spAutoFit/>
          </a:bodyPr>
          <a:lstStyle/>
          <a:p>
            <a:pPr algn="ctr">
              <a:lnSpc>
                <a:spcPts val="3023"/>
              </a:lnSpc>
            </a:pPr>
            <a:r>
              <a:rPr lang="en-US" sz="2159" i="true">
                <a:solidFill>
                  <a:srgbClr val="FFFFFF"/>
                </a:solidFill>
                <a:latin typeface="Poppins Italics"/>
                <a:ea typeface="Poppins Italics"/>
                <a:cs typeface="Poppins Italics"/>
                <a:sym typeface="Poppins Italics"/>
              </a:rPr>
              <a:t>HIMPUNAN MAHASISWA TEKNIK INFORMATIKA</a:t>
            </a:r>
          </a:p>
        </p:txBody>
      </p:sp>
      <p:sp>
        <p:nvSpPr>
          <p:cNvPr name="TextBox 19" id="19"/>
          <p:cNvSpPr txBox="true"/>
          <p:nvPr/>
        </p:nvSpPr>
        <p:spPr>
          <a:xfrm rot="0">
            <a:off x="8706652" y="3802610"/>
            <a:ext cx="7789777" cy="1463412"/>
          </a:xfrm>
          <a:prstGeom prst="rect">
            <a:avLst/>
          </a:prstGeom>
        </p:spPr>
        <p:txBody>
          <a:bodyPr anchor="t" rtlCol="false" tIns="0" lIns="0" bIns="0" rIns="0">
            <a:spAutoFit/>
          </a:bodyPr>
          <a:lstStyle/>
          <a:p>
            <a:pPr algn="l">
              <a:lnSpc>
                <a:spcPts val="10416"/>
              </a:lnSpc>
            </a:pPr>
            <a:r>
              <a:rPr lang="en-US" sz="10313" b="true">
                <a:solidFill>
                  <a:srgbClr val="FFFFFF"/>
                </a:solidFill>
                <a:latin typeface="Poppins Bold"/>
                <a:ea typeface="Poppins Bold"/>
                <a:cs typeface="Poppins Bold"/>
                <a:sym typeface="Poppins Bold"/>
              </a:rPr>
              <a:t>HIMTI-UNA</a:t>
            </a:r>
          </a:p>
        </p:txBody>
      </p:sp>
      <p:sp>
        <p:nvSpPr>
          <p:cNvPr name="TextBox 20" id="20"/>
          <p:cNvSpPr txBox="true"/>
          <p:nvPr/>
        </p:nvSpPr>
        <p:spPr>
          <a:xfrm rot="0">
            <a:off x="13741860" y="940188"/>
            <a:ext cx="2020204" cy="550108"/>
          </a:xfrm>
          <a:prstGeom prst="rect">
            <a:avLst/>
          </a:prstGeom>
        </p:spPr>
        <p:txBody>
          <a:bodyPr anchor="t" rtlCol="false" tIns="0" lIns="0" bIns="0" rIns="0">
            <a:spAutoFit/>
          </a:bodyPr>
          <a:lstStyle/>
          <a:p>
            <a:pPr algn="l">
              <a:lnSpc>
                <a:spcPts val="4291"/>
              </a:lnSpc>
            </a:pPr>
            <a:r>
              <a:rPr lang="en-US" sz="3065">
                <a:solidFill>
                  <a:srgbClr val="FFFFFF"/>
                </a:solidFill>
                <a:latin typeface="Poppins"/>
                <a:ea typeface="Poppins"/>
                <a:cs typeface="Poppins"/>
                <a:sym typeface="Poppins"/>
              </a:rPr>
              <a:t>HIMTI-UNA</a:t>
            </a:r>
          </a:p>
        </p:txBody>
      </p:sp>
      <p:sp>
        <p:nvSpPr>
          <p:cNvPr name="TextBox 21" id="21"/>
          <p:cNvSpPr txBox="true"/>
          <p:nvPr/>
        </p:nvSpPr>
        <p:spPr>
          <a:xfrm rot="0">
            <a:off x="9343666" y="5763140"/>
            <a:ext cx="6515750" cy="1216870"/>
          </a:xfrm>
          <a:prstGeom prst="rect">
            <a:avLst/>
          </a:prstGeom>
        </p:spPr>
        <p:txBody>
          <a:bodyPr anchor="t" rtlCol="false" tIns="0" lIns="0" bIns="0" rIns="0">
            <a:spAutoFit/>
          </a:bodyPr>
          <a:lstStyle/>
          <a:p>
            <a:pPr algn="ctr">
              <a:lnSpc>
                <a:spcPts val="3262"/>
              </a:lnSpc>
            </a:pPr>
            <a:r>
              <a:rPr lang="en-US" sz="2330" i="true">
                <a:solidFill>
                  <a:srgbClr val="FFFFFF"/>
                </a:solidFill>
                <a:latin typeface="Poppins Italics"/>
                <a:ea typeface="Poppins Italics"/>
                <a:cs typeface="Poppins Italics"/>
                <a:sym typeface="Poppins Italics"/>
              </a:rPr>
              <a:t>Di Organisasi memang kita tidak di bayar tapi kita menabung pengalaman Yang hasilnya kita petik di hari kemudian</a:t>
            </a:r>
          </a:p>
        </p:txBody>
      </p:sp>
      <p:sp>
        <p:nvSpPr>
          <p:cNvPr name="TextBox 22" id="22"/>
          <p:cNvSpPr txBox="true"/>
          <p:nvPr/>
        </p:nvSpPr>
        <p:spPr>
          <a:xfrm rot="0">
            <a:off x="9233196" y="7189904"/>
            <a:ext cx="6736690" cy="1574981"/>
          </a:xfrm>
          <a:prstGeom prst="rect">
            <a:avLst/>
          </a:prstGeom>
        </p:spPr>
        <p:txBody>
          <a:bodyPr anchor="t" rtlCol="false" tIns="0" lIns="0" bIns="0" rIns="0">
            <a:spAutoFit/>
          </a:bodyPr>
          <a:lstStyle/>
          <a:p>
            <a:pPr algn="ctr">
              <a:lnSpc>
                <a:spcPts val="3994"/>
              </a:lnSpc>
            </a:pPr>
            <a:r>
              <a:rPr lang="en-US" b="true" sz="3955">
                <a:solidFill>
                  <a:srgbClr val="FFFFFF"/>
                </a:solidFill>
                <a:latin typeface="Poppins Bold"/>
                <a:ea typeface="Poppins Bold"/>
                <a:cs typeface="Poppins Bold"/>
                <a:sym typeface="Poppins Bold"/>
              </a:rPr>
              <a:t>AKADEMIK ITU WAJIB ORGANISASI ITU HARUS !!!</a:t>
            </a:r>
          </a:p>
          <a:p>
            <a:pPr algn="ctr">
              <a:lnSpc>
                <a:spcPts val="3994"/>
              </a:lnSpc>
            </a:pPr>
            <a:r>
              <a:rPr lang="en-US" b="true" sz="3955">
                <a:solidFill>
                  <a:srgbClr val="FFFFFF"/>
                </a:solidFill>
                <a:latin typeface="Poppins Bold"/>
                <a:ea typeface="Poppins Bold"/>
                <a:cs typeface="Poppins Bold"/>
                <a:sym typeface="Poppins Bold"/>
              </a:rPr>
              <a:t>TERIMAKASIH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DAGzSWY89_o</dc:identifier>
  <dcterms:modified xsi:type="dcterms:W3CDTF">2011-08-01T06:04:30Z</dcterms:modified>
  <cp:revision>1</cp:revision>
  <dc:title>Blue and Purple Modern Artificial Intelligence Technology Presentation</dc:title>
</cp:coreProperties>
</file>